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85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ttatray Jadhav" userId="9eaba8f7b1766e77" providerId="LiveId" clId="{A74E4FBC-7DD9-48A1-89D9-62F4142C3870}"/>
    <pc:docChg chg="undo custSel modSld">
      <pc:chgData name="Dattatray Jadhav" userId="9eaba8f7b1766e77" providerId="LiveId" clId="{A74E4FBC-7DD9-48A1-89D9-62F4142C3870}" dt="2026-10-17T10:25:33.419" v="766" actId="255"/>
      <pc:docMkLst>
        <pc:docMk/>
      </pc:docMkLst>
      <pc:sldChg chg="modSp mod">
        <pc:chgData name="Dattatray Jadhav" userId="9eaba8f7b1766e77" providerId="LiveId" clId="{A74E4FBC-7DD9-48A1-89D9-62F4142C3870}" dt="2026-10-17T09:55:03.624" v="107" actId="20577"/>
        <pc:sldMkLst>
          <pc:docMk/>
          <pc:sldMk cId="0" sldId="257"/>
        </pc:sldMkLst>
        <pc:spChg chg="mod">
          <ac:chgData name="Dattatray Jadhav" userId="9eaba8f7b1766e77" providerId="LiveId" clId="{A74E4FBC-7DD9-48A1-89D9-62F4142C3870}" dt="2026-10-17T09:52:16.070" v="12" actId="1038"/>
          <ac:spMkLst>
            <pc:docMk/>
            <pc:sldMk cId="0" sldId="257"/>
            <ac:spMk id="4" creationId="{00000000-0000-0000-0000-000000000000}"/>
          </ac:spMkLst>
        </pc:spChg>
        <pc:spChg chg="mod">
          <ac:chgData name="Dattatray Jadhav" userId="9eaba8f7b1766e77" providerId="LiveId" clId="{A74E4FBC-7DD9-48A1-89D9-62F4142C3870}" dt="2026-10-17T09:52:34.806" v="13" actId="255"/>
          <ac:spMkLst>
            <pc:docMk/>
            <pc:sldMk cId="0" sldId="257"/>
            <ac:spMk id="6" creationId="{00000000-0000-0000-0000-000000000000}"/>
          </ac:spMkLst>
        </pc:spChg>
        <pc:spChg chg="mod">
          <ac:chgData name="Dattatray Jadhav" userId="9eaba8f7b1766e77" providerId="LiveId" clId="{A74E4FBC-7DD9-48A1-89D9-62F4142C3870}" dt="2026-10-17T09:53:17.745" v="44" actId="255"/>
          <ac:spMkLst>
            <pc:docMk/>
            <pc:sldMk cId="0" sldId="257"/>
            <ac:spMk id="7" creationId="{00000000-0000-0000-0000-000000000000}"/>
          </ac:spMkLst>
        </pc:spChg>
        <pc:spChg chg="mod">
          <ac:chgData name="Dattatray Jadhav" userId="9eaba8f7b1766e77" providerId="LiveId" clId="{A74E4FBC-7DD9-48A1-89D9-62F4142C3870}" dt="2026-10-17T09:53:28.865" v="63" actId="1036"/>
          <ac:spMkLst>
            <pc:docMk/>
            <pc:sldMk cId="0" sldId="257"/>
            <ac:spMk id="8" creationId="{00000000-0000-0000-0000-000000000000}"/>
          </ac:spMkLst>
        </pc:spChg>
        <pc:spChg chg="mod">
          <ac:chgData name="Dattatray Jadhav" userId="9eaba8f7b1766e77" providerId="LiveId" clId="{A74E4FBC-7DD9-48A1-89D9-62F4142C3870}" dt="2026-10-17T09:53:55.872" v="84" actId="255"/>
          <ac:spMkLst>
            <pc:docMk/>
            <pc:sldMk cId="0" sldId="257"/>
            <ac:spMk id="9" creationId="{00000000-0000-0000-0000-000000000000}"/>
          </ac:spMkLst>
        </pc:spChg>
        <pc:spChg chg="mod">
          <ac:chgData name="Dattatray Jadhav" userId="9eaba8f7b1766e77" providerId="LiveId" clId="{A74E4FBC-7DD9-48A1-89D9-62F4142C3870}" dt="2026-10-17T09:54:22.970" v="99" actId="1036"/>
          <ac:spMkLst>
            <pc:docMk/>
            <pc:sldMk cId="0" sldId="257"/>
            <ac:spMk id="10" creationId="{00000000-0000-0000-0000-000000000000}"/>
          </ac:spMkLst>
        </pc:spChg>
        <pc:spChg chg="mod">
          <ac:chgData name="Dattatray Jadhav" userId="9eaba8f7b1766e77" providerId="LiveId" clId="{A74E4FBC-7DD9-48A1-89D9-62F4142C3870}" dt="2026-10-17T09:53:31.501" v="68" actId="1036"/>
          <ac:spMkLst>
            <pc:docMk/>
            <pc:sldMk cId="0" sldId="257"/>
            <ac:spMk id="11" creationId="{00000000-0000-0000-0000-000000000000}"/>
          </ac:spMkLst>
        </pc:spChg>
        <pc:spChg chg="mod">
          <ac:chgData name="Dattatray Jadhav" userId="9eaba8f7b1766e77" providerId="LiveId" clId="{A74E4FBC-7DD9-48A1-89D9-62F4142C3870}" dt="2026-10-17T09:54:36.405" v="100" actId="255"/>
          <ac:spMkLst>
            <pc:docMk/>
            <pc:sldMk cId="0" sldId="257"/>
            <ac:spMk id="12" creationId="{00000000-0000-0000-0000-000000000000}"/>
          </ac:spMkLst>
        </pc:spChg>
        <pc:spChg chg="mod">
          <ac:chgData name="Dattatray Jadhav" userId="9eaba8f7b1766e77" providerId="LiveId" clId="{A74E4FBC-7DD9-48A1-89D9-62F4142C3870}" dt="2026-10-17T09:55:03.624" v="107" actId="20577"/>
          <ac:spMkLst>
            <pc:docMk/>
            <pc:sldMk cId="0" sldId="257"/>
            <ac:spMk id="13" creationId="{00000000-0000-0000-0000-000000000000}"/>
          </ac:spMkLst>
        </pc:spChg>
      </pc:sldChg>
      <pc:sldChg chg="modSp mod">
        <pc:chgData name="Dattatray Jadhav" userId="9eaba8f7b1766e77" providerId="LiveId" clId="{A74E4FBC-7DD9-48A1-89D9-62F4142C3870}" dt="2026-10-17T09:59:25.457" v="207" actId="1036"/>
        <pc:sldMkLst>
          <pc:docMk/>
          <pc:sldMk cId="0" sldId="258"/>
        </pc:sldMkLst>
        <pc:spChg chg="mod">
          <ac:chgData name="Dattatray Jadhav" userId="9eaba8f7b1766e77" providerId="LiveId" clId="{A74E4FBC-7DD9-48A1-89D9-62F4142C3870}" dt="2026-10-17T09:56:22.055" v="112" actId="255"/>
          <ac:spMkLst>
            <pc:docMk/>
            <pc:sldMk cId="0" sldId="258"/>
            <ac:spMk id="4" creationId="{00000000-0000-0000-0000-000000000000}"/>
          </ac:spMkLst>
        </pc:spChg>
        <pc:spChg chg="mod">
          <ac:chgData name="Dattatray Jadhav" userId="9eaba8f7b1766e77" providerId="LiveId" clId="{A74E4FBC-7DD9-48A1-89D9-62F4142C3870}" dt="2026-10-17T09:58:22.114" v="129" actId="1036"/>
          <ac:spMkLst>
            <pc:docMk/>
            <pc:sldMk cId="0" sldId="258"/>
            <ac:spMk id="6" creationId="{00000000-0000-0000-0000-000000000000}"/>
          </ac:spMkLst>
        </pc:spChg>
        <pc:spChg chg="mod">
          <ac:chgData name="Dattatray Jadhav" userId="9eaba8f7b1766e77" providerId="LiveId" clId="{A74E4FBC-7DD9-48A1-89D9-62F4142C3870}" dt="2026-10-17T09:58:30.812" v="133" actId="1036"/>
          <ac:spMkLst>
            <pc:docMk/>
            <pc:sldMk cId="0" sldId="258"/>
            <ac:spMk id="7" creationId="{00000000-0000-0000-0000-000000000000}"/>
          </ac:spMkLst>
        </pc:spChg>
        <pc:spChg chg="mod">
          <ac:chgData name="Dattatray Jadhav" userId="9eaba8f7b1766e77" providerId="LiveId" clId="{A74E4FBC-7DD9-48A1-89D9-62F4142C3870}" dt="2026-10-17T09:56:03.770" v="109" actId="255"/>
          <ac:spMkLst>
            <pc:docMk/>
            <pc:sldMk cId="0" sldId="258"/>
            <ac:spMk id="8" creationId="{00000000-0000-0000-0000-000000000000}"/>
          </ac:spMkLst>
        </pc:spChg>
        <pc:spChg chg="mod">
          <ac:chgData name="Dattatray Jadhav" userId="9eaba8f7b1766e77" providerId="LiveId" clId="{A74E4FBC-7DD9-48A1-89D9-62F4142C3870}" dt="2026-10-17T09:58:41.242" v="145" actId="1036"/>
          <ac:spMkLst>
            <pc:docMk/>
            <pc:sldMk cId="0" sldId="258"/>
            <ac:spMk id="9" creationId="{00000000-0000-0000-0000-000000000000}"/>
          </ac:spMkLst>
        </pc:spChg>
        <pc:spChg chg="mod">
          <ac:chgData name="Dattatray Jadhav" userId="9eaba8f7b1766e77" providerId="LiveId" clId="{A74E4FBC-7DD9-48A1-89D9-62F4142C3870}" dt="2026-10-17T09:57:59.962" v="119" actId="255"/>
          <ac:spMkLst>
            <pc:docMk/>
            <pc:sldMk cId="0" sldId="258"/>
            <ac:spMk id="10" creationId="{00000000-0000-0000-0000-000000000000}"/>
          </ac:spMkLst>
        </pc:spChg>
        <pc:spChg chg="mod">
          <ac:chgData name="Dattatray Jadhav" userId="9eaba8f7b1766e77" providerId="LiveId" clId="{A74E4FBC-7DD9-48A1-89D9-62F4142C3870}" dt="2026-10-17T09:56:39.077" v="113" actId="255"/>
          <ac:spMkLst>
            <pc:docMk/>
            <pc:sldMk cId="0" sldId="258"/>
            <ac:spMk id="11" creationId="{00000000-0000-0000-0000-000000000000}"/>
          </ac:spMkLst>
        </pc:spChg>
        <pc:spChg chg="mod">
          <ac:chgData name="Dattatray Jadhav" userId="9eaba8f7b1766e77" providerId="LiveId" clId="{A74E4FBC-7DD9-48A1-89D9-62F4142C3870}" dt="2026-10-17T09:58:47.777" v="161" actId="1036"/>
          <ac:spMkLst>
            <pc:docMk/>
            <pc:sldMk cId="0" sldId="258"/>
            <ac:spMk id="12" creationId="{00000000-0000-0000-0000-000000000000}"/>
          </ac:spMkLst>
        </pc:spChg>
        <pc:spChg chg="mod">
          <ac:chgData name="Dattatray Jadhav" userId="9eaba8f7b1766e77" providerId="LiveId" clId="{A74E4FBC-7DD9-48A1-89D9-62F4142C3870}" dt="2026-10-17T09:58:55.081" v="173" actId="1036"/>
          <ac:spMkLst>
            <pc:docMk/>
            <pc:sldMk cId="0" sldId="258"/>
            <ac:spMk id="13" creationId="{00000000-0000-0000-0000-000000000000}"/>
          </ac:spMkLst>
        </pc:spChg>
        <pc:spChg chg="mod">
          <ac:chgData name="Dattatray Jadhav" userId="9eaba8f7b1766e77" providerId="LiveId" clId="{A74E4FBC-7DD9-48A1-89D9-62F4142C3870}" dt="2026-10-17T09:56:48.711" v="114" actId="255"/>
          <ac:spMkLst>
            <pc:docMk/>
            <pc:sldMk cId="0" sldId="258"/>
            <ac:spMk id="14" creationId="{00000000-0000-0000-0000-000000000000}"/>
          </ac:spMkLst>
        </pc:spChg>
        <pc:spChg chg="mod">
          <ac:chgData name="Dattatray Jadhav" userId="9eaba8f7b1766e77" providerId="LiveId" clId="{A74E4FBC-7DD9-48A1-89D9-62F4142C3870}" dt="2026-10-17T09:59:10.584" v="195" actId="1036"/>
          <ac:spMkLst>
            <pc:docMk/>
            <pc:sldMk cId="0" sldId="258"/>
            <ac:spMk id="15" creationId="{00000000-0000-0000-0000-000000000000}"/>
          </ac:spMkLst>
        </pc:spChg>
        <pc:spChg chg="mod">
          <ac:chgData name="Dattatray Jadhav" userId="9eaba8f7b1766e77" providerId="LiveId" clId="{A74E4FBC-7DD9-48A1-89D9-62F4142C3870}" dt="2026-10-17T09:59:25.457" v="207" actId="1036"/>
          <ac:spMkLst>
            <pc:docMk/>
            <pc:sldMk cId="0" sldId="258"/>
            <ac:spMk id="16" creationId="{00000000-0000-0000-0000-000000000000}"/>
          </ac:spMkLst>
        </pc:spChg>
        <pc:spChg chg="mod">
          <ac:chgData name="Dattatray Jadhav" userId="9eaba8f7b1766e77" providerId="LiveId" clId="{A74E4FBC-7DD9-48A1-89D9-62F4142C3870}" dt="2026-10-17T09:56:56.794" v="115" actId="255"/>
          <ac:spMkLst>
            <pc:docMk/>
            <pc:sldMk cId="0" sldId="258"/>
            <ac:spMk id="17" creationId="{00000000-0000-0000-0000-000000000000}"/>
          </ac:spMkLst>
        </pc:spChg>
      </pc:sldChg>
      <pc:sldChg chg="modSp mod">
        <pc:chgData name="Dattatray Jadhav" userId="9eaba8f7b1766e77" providerId="LiveId" clId="{A74E4FBC-7DD9-48A1-89D9-62F4142C3870}" dt="2026-10-17T10:12:49.187" v="686" actId="1036"/>
        <pc:sldMkLst>
          <pc:docMk/>
          <pc:sldMk cId="0" sldId="259"/>
        </pc:sldMkLst>
        <pc:spChg chg="mod">
          <ac:chgData name="Dattatray Jadhav" userId="9eaba8f7b1766e77" providerId="LiveId" clId="{A74E4FBC-7DD9-48A1-89D9-62F4142C3870}" dt="2026-10-17T09:59:59.659" v="208" actId="255"/>
          <ac:spMkLst>
            <pc:docMk/>
            <pc:sldMk cId="0" sldId="259"/>
            <ac:spMk id="4" creationId="{00000000-0000-0000-0000-000000000000}"/>
          </ac:spMkLst>
        </pc:spChg>
        <pc:spChg chg="mod">
          <ac:chgData name="Dattatray Jadhav" userId="9eaba8f7b1766e77" providerId="LiveId" clId="{A74E4FBC-7DD9-48A1-89D9-62F4142C3870}" dt="2026-10-17T10:12:10.190" v="641" actId="1076"/>
          <ac:spMkLst>
            <pc:docMk/>
            <pc:sldMk cId="0" sldId="259"/>
            <ac:spMk id="5" creationId="{00000000-0000-0000-0000-000000000000}"/>
          </ac:spMkLst>
        </pc:spChg>
        <pc:spChg chg="mod">
          <ac:chgData name="Dattatray Jadhav" userId="9eaba8f7b1766e77" providerId="LiveId" clId="{A74E4FBC-7DD9-48A1-89D9-62F4142C3870}" dt="2026-10-17T10:00:08.887" v="209" actId="255"/>
          <ac:spMkLst>
            <pc:docMk/>
            <pc:sldMk cId="0" sldId="259"/>
            <ac:spMk id="6" creationId="{00000000-0000-0000-0000-000000000000}"/>
          </ac:spMkLst>
        </pc:spChg>
        <pc:spChg chg="mod">
          <ac:chgData name="Dattatray Jadhav" userId="9eaba8f7b1766e77" providerId="LiveId" clId="{A74E4FBC-7DD9-48A1-89D9-62F4142C3870}" dt="2026-10-17T10:00:35.848" v="221" actId="255"/>
          <ac:spMkLst>
            <pc:docMk/>
            <pc:sldMk cId="0" sldId="259"/>
            <ac:spMk id="7" creationId="{00000000-0000-0000-0000-000000000000}"/>
          </ac:spMkLst>
        </pc:spChg>
        <pc:spChg chg="mod">
          <ac:chgData name="Dattatray Jadhav" userId="9eaba8f7b1766e77" providerId="LiveId" clId="{A74E4FBC-7DD9-48A1-89D9-62F4142C3870}" dt="2026-10-17T10:01:03.546" v="246" actId="255"/>
          <ac:spMkLst>
            <pc:docMk/>
            <pc:sldMk cId="0" sldId="259"/>
            <ac:spMk id="8" creationId="{00000000-0000-0000-0000-000000000000}"/>
          </ac:spMkLst>
        </pc:spChg>
        <pc:spChg chg="mod">
          <ac:chgData name="Dattatray Jadhav" userId="9eaba8f7b1766e77" providerId="LiveId" clId="{A74E4FBC-7DD9-48A1-89D9-62F4142C3870}" dt="2026-10-17T10:01:30.789" v="291" actId="255"/>
          <ac:spMkLst>
            <pc:docMk/>
            <pc:sldMk cId="0" sldId="259"/>
            <ac:spMk id="9" creationId="{00000000-0000-0000-0000-000000000000}"/>
          </ac:spMkLst>
        </pc:spChg>
        <pc:spChg chg="mod">
          <ac:chgData name="Dattatray Jadhav" userId="9eaba8f7b1766e77" providerId="LiveId" clId="{A74E4FBC-7DD9-48A1-89D9-62F4142C3870}" dt="2026-10-17T10:02:07.274" v="319" actId="1035"/>
          <ac:spMkLst>
            <pc:docMk/>
            <pc:sldMk cId="0" sldId="259"/>
            <ac:spMk id="10" creationId="{00000000-0000-0000-0000-000000000000}"/>
          </ac:spMkLst>
        </pc:spChg>
        <pc:spChg chg="mod">
          <ac:chgData name="Dattatray Jadhav" userId="9eaba8f7b1766e77" providerId="LiveId" clId="{A74E4FBC-7DD9-48A1-89D9-62F4142C3870}" dt="2026-10-17T10:02:02.667" v="309" actId="255"/>
          <ac:spMkLst>
            <pc:docMk/>
            <pc:sldMk cId="0" sldId="259"/>
            <ac:spMk id="11" creationId="{00000000-0000-0000-0000-000000000000}"/>
          </ac:spMkLst>
        </pc:spChg>
        <pc:spChg chg="mod">
          <ac:chgData name="Dattatray Jadhav" userId="9eaba8f7b1766e77" providerId="LiveId" clId="{A74E4FBC-7DD9-48A1-89D9-62F4142C3870}" dt="2026-10-17T10:00:14.908" v="210" actId="255"/>
          <ac:spMkLst>
            <pc:docMk/>
            <pc:sldMk cId="0" sldId="259"/>
            <ac:spMk id="12" creationId="{00000000-0000-0000-0000-000000000000}"/>
          </ac:spMkLst>
        </pc:spChg>
        <pc:spChg chg="mod">
          <ac:chgData name="Dattatray Jadhav" userId="9eaba8f7b1766e77" providerId="LiveId" clId="{A74E4FBC-7DD9-48A1-89D9-62F4142C3870}" dt="2026-10-17T10:04:03.709" v="374" actId="1036"/>
          <ac:spMkLst>
            <pc:docMk/>
            <pc:sldMk cId="0" sldId="259"/>
            <ac:spMk id="13" creationId="{00000000-0000-0000-0000-000000000000}"/>
          </ac:spMkLst>
        </pc:spChg>
        <pc:spChg chg="mod">
          <ac:chgData name="Dattatray Jadhav" userId="9eaba8f7b1766e77" providerId="LiveId" clId="{A74E4FBC-7DD9-48A1-89D9-62F4142C3870}" dt="2026-10-17T10:07:54.654" v="571" actId="255"/>
          <ac:spMkLst>
            <pc:docMk/>
            <pc:sldMk cId="0" sldId="259"/>
            <ac:spMk id="14" creationId="{00000000-0000-0000-0000-000000000000}"/>
          </ac:spMkLst>
        </pc:spChg>
        <pc:spChg chg="mod">
          <ac:chgData name="Dattatray Jadhav" userId="9eaba8f7b1766e77" providerId="LiveId" clId="{A74E4FBC-7DD9-48A1-89D9-62F4142C3870}" dt="2026-10-17T10:11:38.230" v="609" actId="1036"/>
          <ac:spMkLst>
            <pc:docMk/>
            <pc:sldMk cId="0" sldId="259"/>
            <ac:spMk id="15" creationId="{00000000-0000-0000-0000-000000000000}"/>
          </ac:spMkLst>
        </pc:spChg>
        <pc:spChg chg="mod">
          <ac:chgData name="Dattatray Jadhav" userId="9eaba8f7b1766e77" providerId="LiveId" clId="{A74E4FBC-7DD9-48A1-89D9-62F4142C3870}" dt="2026-10-17T10:04:14.675" v="383" actId="1036"/>
          <ac:spMkLst>
            <pc:docMk/>
            <pc:sldMk cId="0" sldId="259"/>
            <ac:spMk id="16" creationId="{00000000-0000-0000-0000-000000000000}"/>
          </ac:spMkLst>
        </pc:spChg>
        <pc:spChg chg="mod">
          <ac:chgData name="Dattatray Jadhav" userId="9eaba8f7b1766e77" providerId="LiveId" clId="{A74E4FBC-7DD9-48A1-89D9-62F4142C3870}" dt="2026-10-17T10:09:11.660" v="580" actId="1035"/>
          <ac:spMkLst>
            <pc:docMk/>
            <pc:sldMk cId="0" sldId="259"/>
            <ac:spMk id="17" creationId="{00000000-0000-0000-0000-000000000000}"/>
          </ac:spMkLst>
        </pc:spChg>
        <pc:spChg chg="mod">
          <ac:chgData name="Dattatray Jadhav" userId="9eaba8f7b1766e77" providerId="LiveId" clId="{A74E4FBC-7DD9-48A1-89D9-62F4142C3870}" dt="2026-10-17T10:03:17.273" v="322" actId="255"/>
          <ac:spMkLst>
            <pc:docMk/>
            <pc:sldMk cId="0" sldId="259"/>
            <ac:spMk id="18" creationId="{00000000-0000-0000-0000-000000000000}"/>
          </ac:spMkLst>
        </pc:spChg>
        <pc:spChg chg="mod">
          <ac:chgData name="Dattatray Jadhav" userId="9eaba8f7b1766e77" providerId="LiveId" clId="{A74E4FBC-7DD9-48A1-89D9-62F4142C3870}" dt="2026-10-17T10:04:46.889" v="485" actId="1036"/>
          <ac:spMkLst>
            <pc:docMk/>
            <pc:sldMk cId="0" sldId="259"/>
            <ac:spMk id="19" creationId="{00000000-0000-0000-0000-000000000000}"/>
          </ac:spMkLst>
        </pc:spChg>
        <pc:spChg chg="mod">
          <ac:chgData name="Dattatray Jadhav" userId="9eaba8f7b1766e77" providerId="LiveId" clId="{A74E4FBC-7DD9-48A1-89D9-62F4142C3870}" dt="2026-10-17T10:09:19.379" v="585" actId="1035"/>
          <ac:spMkLst>
            <pc:docMk/>
            <pc:sldMk cId="0" sldId="259"/>
            <ac:spMk id="20" creationId="{00000000-0000-0000-0000-000000000000}"/>
          </ac:spMkLst>
        </pc:spChg>
        <pc:spChg chg="mod">
          <ac:chgData name="Dattatray Jadhav" userId="9eaba8f7b1766e77" providerId="LiveId" clId="{A74E4FBC-7DD9-48A1-89D9-62F4142C3870}" dt="2026-10-17T10:11:43.296" v="615" actId="1036"/>
          <ac:spMkLst>
            <pc:docMk/>
            <pc:sldMk cId="0" sldId="259"/>
            <ac:spMk id="21" creationId="{00000000-0000-0000-0000-000000000000}"/>
          </ac:spMkLst>
        </pc:spChg>
        <pc:spChg chg="mod">
          <ac:chgData name="Dattatray Jadhav" userId="9eaba8f7b1766e77" providerId="LiveId" clId="{A74E4FBC-7DD9-48A1-89D9-62F4142C3870}" dt="2026-10-17T10:12:12.126" v="642" actId="1036"/>
          <ac:spMkLst>
            <pc:docMk/>
            <pc:sldMk cId="0" sldId="259"/>
            <ac:spMk id="22" creationId="{00000000-0000-0000-0000-000000000000}"/>
          </ac:spMkLst>
        </pc:spChg>
        <pc:spChg chg="mod">
          <ac:chgData name="Dattatray Jadhav" userId="9eaba8f7b1766e77" providerId="LiveId" clId="{A74E4FBC-7DD9-48A1-89D9-62F4142C3870}" dt="2026-10-17T10:12:20.139" v="649" actId="1035"/>
          <ac:spMkLst>
            <pc:docMk/>
            <pc:sldMk cId="0" sldId="259"/>
            <ac:spMk id="23" creationId="{00000000-0000-0000-0000-000000000000}"/>
          </ac:spMkLst>
        </pc:spChg>
        <pc:spChg chg="mod">
          <ac:chgData name="Dattatray Jadhav" userId="9eaba8f7b1766e77" providerId="LiveId" clId="{A74E4FBC-7DD9-48A1-89D9-62F4142C3870}" dt="2026-10-17T10:11:53.538" v="623" actId="1036"/>
          <ac:spMkLst>
            <pc:docMk/>
            <pc:sldMk cId="0" sldId="259"/>
            <ac:spMk id="24" creationId="{00000000-0000-0000-0000-000000000000}"/>
          </ac:spMkLst>
        </pc:spChg>
        <pc:spChg chg="mod">
          <ac:chgData name="Dattatray Jadhav" userId="9eaba8f7b1766e77" providerId="LiveId" clId="{A74E4FBC-7DD9-48A1-89D9-62F4142C3870}" dt="2026-10-17T10:12:49.187" v="686" actId="1036"/>
          <ac:spMkLst>
            <pc:docMk/>
            <pc:sldMk cId="0" sldId="259"/>
            <ac:spMk id="25" creationId="{00000000-0000-0000-0000-000000000000}"/>
          </ac:spMkLst>
        </pc:spChg>
        <pc:spChg chg="mod">
          <ac:chgData name="Dattatray Jadhav" userId="9eaba8f7b1766e77" providerId="LiveId" clId="{A74E4FBC-7DD9-48A1-89D9-62F4142C3870}" dt="2026-10-17T10:12:44.186" v="680" actId="1036"/>
          <ac:spMkLst>
            <pc:docMk/>
            <pc:sldMk cId="0" sldId="259"/>
            <ac:spMk id="26" creationId="{00000000-0000-0000-0000-000000000000}"/>
          </ac:spMkLst>
        </pc:spChg>
        <pc:spChg chg="mod">
          <ac:chgData name="Dattatray Jadhav" userId="9eaba8f7b1766e77" providerId="LiveId" clId="{A74E4FBC-7DD9-48A1-89D9-62F4142C3870}" dt="2026-10-17T10:03:59.136" v="368" actId="255"/>
          <ac:spMkLst>
            <pc:docMk/>
            <pc:sldMk cId="0" sldId="259"/>
            <ac:spMk id="27" creationId="{00000000-0000-0000-0000-000000000000}"/>
          </ac:spMkLst>
        </pc:spChg>
      </pc:sldChg>
      <pc:sldChg chg="addSp delSp modSp mod">
        <pc:chgData name="Dattatray Jadhav" userId="9eaba8f7b1766e77" providerId="LiveId" clId="{A74E4FBC-7DD9-48A1-89D9-62F4142C3870}" dt="2026-10-17T10:23:16.166" v="742" actId="14100"/>
        <pc:sldMkLst>
          <pc:docMk/>
          <pc:sldMk cId="0" sldId="260"/>
        </pc:sldMkLst>
        <pc:spChg chg="del">
          <ac:chgData name="Dattatray Jadhav" userId="9eaba8f7b1766e77" providerId="LiveId" clId="{A74E4FBC-7DD9-48A1-89D9-62F4142C3870}" dt="2026-10-17T10:14:49.164" v="687" actId="478"/>
          <ac:spMkLst>
            <pc:docMk/>
            <pc:sldMk cId="0" sldId="260"/>
            <ac:spMk id="4" creationId="{00000000-0000-0000-0000-000000000000}"/>
          </ac:spMkLst>
        </pc:spChg>
        <pc:spChg chg="del mod">
          <ac:chgData name="Dattatray Jadhav" userId="9eaba8f7b1766e77" providerId="LiveId" clId="{A74E4FBC-7DD9-48A1-89D9-62F4142C3870}" dt="2026-10-17T10:14:58.489" v="690"/>
          <ac:spMkLst>
            <pc:docMk/>
            <pc:sldMk cId="0" sldId="260"/>
            <ac:spMk id="6" creationId="{00000000-0000-0000-0000-000000000000}"/>
          </ac:spMkLst>
        </pc:spChg>
        <pc:spChg chg="mod">
          <ac:chgData name="Dattatray Jadhav" userId="9eaba8f7b1766e77" providerId="LiveId" clId="{A74E4FBC-7DD9-48A1-89D9-62F4142C3870}" dt="2026-10-17T10:15:40.888" v="697" actId="14100"/>
          <ac:spMkLst>
            <pc:docMk/>
            <pc:sldMk cId="0" sldId="260"/>
            <ac:spMk id="7" creationId="{00000000-0000-0000-0000-000000000000}"/>
          </ac:spMkLst>
        </pc:spChg>
        <pc:spChg chg="del">
          <ac:chgData name="Dattatray Jadhav" userId="9eaba8f7b1766e77" providerId="LiveId" clId="{A74E4FBC-7DD9-48A1-89D9-62F4142C3870}" dt="2026-10-17T10:15:14.028" v="692" actId="478"/>
          <ac:spMkLst>
            <pc:docMk/>
            <pc:sldMk cId="0" sldId="260"/>
            <ac:spMk id="8" creationId="{00000000-0000-0000-0000-000000000000}"/>
          </ac:spMkLst>
        </pc:spChg>
        <pc:spChg chg="del">
          <ac:chgData name="Dattatray Jadhav" userId="9eaba8f7b1766e77" providerId="LiveId" clId="{A74E4FBC-7DD9-48A1-89D9-62F4142C3870}" dt="2026-10-17T10:15:06.418" v="691" actId="478"/>
          <ac:spMkLst>
            <pc:docMk/>
            <pc:sldMk cId="0" sldId="260"/>
            <ac:spMk id="9" creationId="{00000000-0000-0000-0000-000000000000}"/>
          </ac:spMkLst>
        </pc:spChg>
        <pc:picChg chg="add mod">
          <ac:chgData name="Dattatray Jadhav" userId="9eaba8f7b1766e77" providerId="LiveId" clId="{A74E4FBC-7DD9-48A1-89D9-62F4142C3870}" dt="2026-10-17T10:21:10.718" v="730" actId="14100"/>
          <ac:picMkLst>
            <pc:docMk/>
            <pc:sldMk cId="0" sldId="260"/>
            <ac:picMk id="11" creationId="{F11E2039-A550-BD23-B3CD-677D885FD3B0}"/>
          </ac:picMkLst>
        </pc:picChg>
        <pc:picChg chg="add mod">
          <ac:chgData name="Dattatray Jadhav" userId="9eaba8f7b1766e77" providerId="LiveId" clId="{A74E4FBC-7DD9-48A1-89D9-62F4142C3870}" dt="2026-10-17T10:23:07.156" v="741" actId="14100"/>
          <ac:picMkLst>
            <pc:docMk/>
            <pc:sldMk cId="0" sldId="260"/>
            <ac:picMk id="13" creationId="{810EC952-DAF8-026F-802B-9C8E92DAA35E}"/>
          </ac:picMkLst>
        </pc:picChg>
        <pc:picChg chg="add mod">
          <ac:chgData name="Dattatray Jadhav" userId="9eaba8f7b1766e77" providerId="LiveId" clId="{A74E4FBC-7DD9-48A1-89D9-62F4142C3870}" dt="2026-10-17T10:21:21.841" v="732" actId="14100"/>
          <ac:picMkLst>
            <pc:docMk/>
            <pc:sldMk cId="0" sldId="260"/>
            <ac:picMk id="15" creationId="{06903903-A893-BD73-D8E3-E43241524B88}"/>
          </ac:picMkLst>
        </pc:picChg>
        <pc:picChg chg="add mod">
          <ac:chgData name="Dattatray Jadhav" userId="9eaba8f7b1766e77" providerId="LiveId" clId="{A74E4FBC-7DD9-48A1-89D9-62F4142C3870}" dt="2026-10-17T10:23:16.166" v="742" actId="14100"/>
          <ac:picMkLst>
            <pc:docMk/>
            <pc:sldMk cId="0" sldId="260"/>
            <ac:picMk id="17" creationId="{689DDC6A-6EE8-7112-1AA3-415AC06E2FE3}"/>
          </ac:picMkLst>
        </pc:picChg>
        <pc:picChg chg="add mod">
          <ac:chgData name="Dattatray Jadhav" userId="9eaba8f7b1766e77" providerId="LiveId" clId="{A74E4FBC-7DD9-48A1-89D9-62F4142C3870}" dt="2026-10-17T10:21:59.071" v="738" actId="14100"/>
          <ac:picMkLst>
            <pc:docMk/>
            <pc:sldMk cId="0" sldId="260"/>
            <ac:picMk id="19" creationId="{030118C9-2A1D-3FD7-D9E6-69EDE9C72103}"/>
          </ac:picMkLst>
        </pc:picChg>
      </pc:sldChg>
      <pc:sldChg chg="delSp modSp mod">
        <pc:chgData name="Dattatray Jadhav" userId="9eaba8f7b1766e77" providerId="LiveId" clId="{A74E4FBC-7DD9-48A1-89D9-62F4142C3870}" dt="2026-10-17T10:25:33.419" v="766" actId="255"/>
        <pc:sldMkLst>
          <pc:docMk/>
          <pc:sldMk cId="0" sldId="261"/>
        </pc:sldMkLst>
        <pc:spChg chg="mod">
          <ac:chgData name="Dattatray Jadhav" userId="9eaba8f7b1766e77" providerId="LiveId" clId="{A74E4FBC-7DD9-48A1-89D9-62F4142C3870}" dt="2026-10-17T10:25:33.419" v="766" actId="255"/>
          <ac:spMkLst>
            <pc:docMk/>
            <pc:sldMk cId="0" sldId="261"/>
            <ac:spMk id="4" creationId="{00000000-0000-0000-0000-000000000000}"/>
          </ac:spMkLst>
        </pc:spChg>
        <pc:spChg chg="mod">
          <ac:chgData name="Dattatray Jadhav" userId="9eaba8f7b1766e77" providerId="LiveId" clId="{A74E4FBC-7DD9-48A1-89D9-62F4142C3870}" dt="2026-10-17T10:23:56.881" v="757" actId="255"/>
          <ac:spMkLst>
            <pc:docMk/>
            <pc:sldMk cId="0" sldId="261"/>
            <ac:spMk id="6" creationId="{00000000-0000-0000-0000-000000000000}"/>
          </ac:spMkLst>
        </pc:spChg>
        <pc:spChg chg="mod">
          <ac:chgData name="Dattatray Jadhav" userId="9eaba8f7b1766e77" providerId="LiveId" clId="{A74E4FBC-7DD9-48A1-89D9-62F4142C3870}" dt="2026-10-17T10:24:05.276" v="758" actId="255"/>
          <ac:spMkLst>
            <pc:docMk/>
            <pc:sldMk cId="0" sldId="261"/>
            <ac:spMk id="7" creationId="{00000000-0000-0000-0000-000000000000}"/>
          </ac:spMkLst>
        </pc:spChg>
        <pc:spChg chg="mod">
          <ac:chgData name="Dattatray Jadhav" userId="9eaba8f7b1766e77" providerId="LiveId" clId="{A74E4FBC-7DD9-48A1-89D9-62F4142C3870}" dt="2026-10-17T10:24:14.369" v="759" actId="255"/>
          <ac:spMkLst>
            <pc:docMk/>
            <pc:sldMk cId="0" sldId="261"/>
            <ac:spMk id="8" creationId="{00000000-0000-0000-0000-000000000000}"/>
          </ac:spMkLst>
        </pc:spChg>
        <pc:spChg chg="mod">
          <ac:chgData name="Dattatray Jadhav" userId="9eaba8f7b1766e77" providerId="LiveId" clId="{A74E4FBC-7DD9-48A1-89D9-62F4142C3870}" dt="2026-10-17T10:24:32.492" v="761" actId="255"/>
          <ac:spMkLst>
            <pc:docMk/>
            <pc:sldMk cId="0" sldId="261"/>
            <ac:spMk id="9" creationId="{00000000-0000-0000-0000-000000000000}"/>
          </ac:spMkLst>
        </pc:spChg>
        <pc:spChg chg="mod">
          <ac:chgData name="Dattatray Jadhav" userId="9eaba8f7b1766e77" providerId="LiveId" clId="{A74E4FBC-7DD9-48A1-89D9-62F4142C3870}" dt="2026-10-17T10:24:54.579" v="762" actId="255"/>
          <ac:spMkLst>
            <pc:docMk/>
            <pc:sldMk cId="0" sldId="261"/>
            <ac:spMk id="10" creationId="{00000000-0000-0000-0000-000000000000}"/>
          </ac:spMkLst>
        </pc:spChg>
        <pc:spChg chg="mod">
          <ac:chgData name="Dattatray Jadhav" userId="9eaba8f7b1766e77" providerId="LiveId" clId="{A74E4FBC-7DD9-48A1-89D9-62F4142C3870}" dt="2026-10-17T10:25:05.522" v="763" actId="255"/>
          <ac:spMkLst>
            <pc:docMk/>
            <pc:sldMk cId="0" sldId="261"/>
            <ac:spMk id="11" creationId="{00000000-0000-0000-0000-000000000000}"/>
          </ac:spMkLst>
        </pc:spChg>
        <pc:spChg chg="del">
          <ac:chgData name="Dattatray Jadhav" userId="9eaba8f7b1766e77" providerId="LiveId" clId="{A74E4FBC-7DD9-48A1-89D9-62F4142C3870}" dt="2026-10-17T10:25:08.062" v="764" actId="478"/>
          <ac:spMkLst>
            <pc:docMk/>
            <pc:sldMk cId="0" sldId="261"/>
            <ac:spMk id="12" creationId="{00000000-0000-0000-0000-000000000000}"/>
          </ac:spMkLst>
        </pc:spChg>
        <pc:spChg chg="del">
          <ac:chgData name="Dattatray Jadhav" userId="9eaba8f7b1766e77" providerId="LiveId" clId="{A74E4FBC-7DD9-48A1-89D9-62F4142C3870}" dt="2026-10-17T10:25:10.082" v="765" actId="478"/>
          <ac:spMkLst>
            <pc:docMk/>
            <pc:sldMk cId="0" sldId="261"/>
            <ac:spMk id="13"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81F31"/>
        </a:solidFill>
        <a:effectLst/>
      </p:bgPr>
    </p:bg>
    <p:spTree>
      <p:nvGrpSpPr>
        <p:cNvPr id="1" name=""/>
        <p:cNvGrpSpPr/>
        <p:nvPr/>
      </p:nvGrpSpPr>
      <p:grpSpPr>
        <a:xfrm>
          <a:off x="0" y="0"/>
          <a:ext cx="0" cy="0"/>
          <a:chOff x="0" y="0"/>
          <a:chExt cx="0" cy="0"/>
        </a:xfrm>
      </p:grpSpPr>
      <p:sp>
        <p:nvSpPr>
          <p:cNvPr id="2" name="Rectangle 1"/>
          <p:cNvSpPr/>
          <p:nvPr/>
        </p:nvSpPr>
        <p:spPr>
          <a:xfrm>
            <a:off x="8458200" y="0"/>
            <a:ext cx="3733495" cy="6858000"/>
          </a:xfrm>
          <a:prstGeom prst="rect">
            <a:avLst/>
          </a:prstGeom>
          <a:solidFill>
            <a:srgbClr val="273045"/>
          </a:solidFill>
          <a:ln>
            <a:solidFill>
              <a:srgbClr val="27304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8458200" y="0"/>
            <a:ext cx="109728" cy="6858000"/>
          </a:xfrm>
          <a:prstGeom prst="rect">
            <a:avLst/>
          </a:prstGeom>
          <a:solidFill>
            <a:srgbClr val="DE1848"/>
          </a:solidFill>
          <a:ln>
            <a:solidFill>
              <a:srgbClr val="DE184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841248"/>
            <a:ext cx="5120640" cy="670953"/>
          </a:xfrm>
          <a:prstGeom prst="rect">
            <a:avLst/>
          </a:prstGeom>
          <a:noFill/>
        </p:spPr>
        <p:txBody>
          <a:bodyPr wrap="square" lIns="27432" tIns="27432" rIns="27432" bIns="27432" anchor="t">
            <a:spAutoFit/>
          </a:bodyPr>
          <a:lstStyle/>
          <a:p>
            <a:r>
              <a:rPr sz="4000" b="1" dirty="0">
                <a:solidFill>
                  <a:srgbClr val="DE1848"/>
                </a:solidFill>
                <a:latin typeface="Aptos"/>
              </a:rPr>
              <a:t>PYTHON</a:t>
            </a:r>
          </a:p>
        </p:txBody>
      </p:sp>
      <p:sp>
        <p:nvSpPr>
          <p:cNvPr id="5" name="TextBox 4"/>
          <p:cNvSpPr txBox="1"/>
          <p:nvPr/>
        </p:nvSpPr>
        <p:spPr>
          <a:xfrm>
            <a:off x="841248" y="1572768"/>
            <a:ext cx="7223760" cy="670953"/>
          </a:xfrm>
          <a:prstGeom prst="rect">
            <a:avLst/>
          </a:prstGeom>
          <a:noFill/>
        </p:spPr>
        <p:txBody>
          <a:bodyPr wrap="square" lIns="27432" tIns="27432" rIns="27432" bIns="27432" anchor="t">
            <a:spAutoFit/>
          </a:bodyPr>
          <a:lstStyle/>
          <a:p>
            <a:r>
              <a:rPr sz="4000" b="1" dirty="0">
                <a:solidFill>
                  <a:srgbClr val="F7F8FB"/>
                </a:solidFill>
                <a:latin typeface="Aptos"/>
              </a:rPr>
              <a:t>Loan Approval</a:t>
            </a:r>
            <a:r>
              <a:rPr lang="en-US" sz="4000" b="1" dirty="0">
                <a:solidFill>
                  <a:srgbClr val="F7F8FB"/>
                </a:solidFill>
                <a:latin typeface="Aptos"/>
              </a:rPr>
              <a:t> </a:t>
            </a:r>
            <a:r>
              <a:rPr sz="4000" b="1" dirty="0">
                <a:solidFill>
                  <a:srgbClr val="F7F8FB"/>
                </a:solidFill>
                <a:latin typeface="Aptos"/>
              </a:rPr>
              <a:t>Data Analysis</a:t>
            </a:r>
          </a:p>
        </p:txBody>
      </p:sp>
      <p:sp>
        <p:nvSpPr>
          <p:cNvPr id="6" name="TextBox 5"/>
          <p:cNvSpPr txBox="1"/>
          <p:nvPr/>
        </p:nvSpPr>
        <p:spPr>
          <a:xfrm>
            <a:off x="896112" y="2675848"/>
            <a:ext cx="6720840" cy="794064"/>
          </a:xfrm>
          <a:prstGeom prst="rect">
            <a:avLst/>
          </a:prstGeom>
          <a:noFill/>
        </p:spPr>
        <p:txBody>
          <a:bodyPr wrap="square" lIns="27432" tIns="27432" rIns="27432" bIns="27432" anchor="t">
            <a:spAutoFit/>
          </a:bodyPr>
          <a:lstStyle/>
          <a:p>
            <a:r>
              <a:rPr sz="2400" b="0" dirty="0">
                <a:solidFill>
                  <a:srgbClr val="B9C0CF"/>
                </a:solidFill>
                <a:latin typeface="Aptos"/>
              </a:rPr>
              <a:t>Preprocessing and visualization to explore applicant profiles and loan approval patterns</a:t>
            </a:r>
          </a:p>
        </p:txBody>
      </p:sp>
      <p:sp>
        <p:nvSpPr>
          <p:cNvPr id="7" name="TextBox 6"/>
          <p:cNvSpPr txBox="1"/>
          <p:nvPr/>
        </p:nvSpPr>
        <p:spPr>
          <a:xfrm>
            <a:off x="896112" y="4315968"/>
            <a:ext cx="7132320" cy="363176"/>
          </a:xfrm>
          <a:prstGeom prst="rect">
            <a:avLst/>
          </a:prstGeom>
          <a:noFill/>
        </p:spPr>
        <p:txBody>
          <a:bodyPr wrap="square" lIns="27432" tIns="27432" rIns="27432" bIns="27432" anchor="t">
            <a:spAutoFit/>
          </a:bodyPr>
          <a:lstStyle/>
          <a:p>
            <a:r>
              <a:rPr sz="2000" b="0" dirty="0">
                <a:solidFill>
                  <a:srgbClr val="F7F8FB"/>
                </a:solidFill>
                <a:latin typeface="Aptos"/>
              </a:rPr>
              <a:t>Tools: Python  •  Pandas  •  NumPy  •  Matplotlib  •  Seaborn</a:t>
            </a:r>
          </a:p>
        </p:txBody>
      </p:sp>
      <p:sp>
        <p:nvSpPr>
          <p:cNvPr id="8" name="TextBox 7"/>
          <p:cNvSpPr txBox="1"/>
          <p:nvPr/>
        </p:nvSpPr>
        <p:spPr>
          <a:xfrm>
            <a:off x="896112" y="5806440"/>
            <a:ext cx="5669280" cy="317010"/>
          </a:xfrm>
          <a:prstGeom prst="rect">
            <a:avLst/>
          </a:prstGeom>
          <a:noFill/>
        </p:spPr>
        <p:txBody>
          <a:bodyPr wrap="square" lIns="27432" tIns="27432" rIns="27432" bIns="27432" anchor="t">
            <a:spAutoFit/>
          </a:bodyPr>
          <a:lstStyle/>
          <a:p>
            <a:r>
              <a:rPr sz="1700" b="0" dirty="0">
                <a:solidFill>
                  <a:srgbClr val="B9C0CF"/>
                </a:solidFill>
                <a:latin typeface="Aptos"/>
              </a:rPr>
              <a:t>Prepared by: Priyanka </a:t>
            </a:r>
            <a:r>
              <a:rPr sz="1700" b="0" dirty="0" err="1">
                <a:solidFill>
                  <a:srgbClr val="B9C0CF"/>
                </a:solidFill>
                <a:latin typeface="Aptos"/>
              </a:rPr>
              <a:t>Asalekar</a:t>
            </a:r>
            <a:endParaRPr sz="1700" b="0" dirty="0">
              <a:solidFill>
                <a:srgbClr val="B9C0CF"/>
              </a:solidFill>
              <a:latin typeface="Aptos"/>
            </a:endParaRPr>
          </a:p>
        </p:txBody>
      </p:sp>
      <p:sp>
        <p:nvSpPr>
          <p:cNvPr id="9" name="Rounded Rectangle 8"/>
          <p:cNvSpPr/>
          <p:nvPr/>
        </p:nvSpPr>
        <p:spPr>
          <a:xfrm>
            <a:off x="8979408" y="914400"/>
            <a:ext cx="2514600" cy="685800"/>
          </a:xfrm>
          <a:prstGeom prst="roundRect">
            <a:avLst>
              <a:gd name="adj" fmla="val 12000"/>
            </a:avLst>
          </a:prstGeom>
          <a:solidFill>
            <a:srgbClr val="181F31"/>
          </a:solidFill>
          <a:ln>
            <a:solidFill>
              <a:srgbClr val="444E6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217152" y="1033271"/>
            <a:ext cx="1371600" cy="270843"/>
          </a:xfrm>
          <a:prstGeom prst="rect">
            <a:avLst/>
          </a:prstGeom>
          <a:noFill/>
        </p:spPr>
        <p:txBody>
          <a:bodyPr wrap="square" lIns="27432" tIns="27432" rIns="27432" bIns="27432" anchor="t">
            <a:spAutoFit/>
          </a:bodyPr>
          <a:lstStyle/>
          <a:p>
            <a:r>
              <a:rPr sz="1400" b="1" dirty="0">
                <a:solidFill>
                  <a:srgbClr val="B9C0CF"/>
                </a:solidFill>
                <a:latin typeface="Aptos"/>
              </a:rPr>
              <a:t>APPLICANTS</a:t>
            </a:r>
          </a:p>
        </p:txBody>
      </p:sp>
      <p:sp>
        <p:nvSpPr>
          <p:cNvPr id="11" name="TextBox 10"/>
          <p:cNvSpPr txBox="1"/>
          <p:nvPr/>
        </p:nvSpPr>
        <p:spPr>
          <a:xfrm>
            <a:off x="10195560" y="1051560"/>
            <a:ext cx="1051560" cy="270843"/>
          </a:xfrm>
          <a:prstGeom prst="rect">
            <a:avLst/>
          </a:prstGeom>
          <a:noFill/>
        </p:spPr>
        <p:txBody>
          <a:bodyPr wrap="square" lIns="27432" tIns="27432" rIns="27432" bIns="27432" anchor="t">
            <a:spAutoFit/>
          </a:bodyPr>
          <a:lstStyle/>
          <a:p>
            <a:pPr algn="r"/>
            <a:r>
              <a:rPr sz="1400" b="1" dirty="0">
                <a:solidFill>
                  <a:srgbClr val="DE1848"/>
                </a:solidFill>
                <a:latin typeface="Aptos"/>
              </a:rPr>
              <a:t>PROFILE</a:t>
            </a:r>
          </a:p>
        </p:txBody>
      </p:sp>
      <p:sp>
        <p:nvSpPr>
          <p:cNvPr id="12" name="Rounded Rectangle 11"/>
          <p:cNvSpPr/>
          <p:nvPr/>
        </p:nvSpPr>
        <p:spPr>
          <a:xfrm>
            <a:off x="8979408" y="1856232"/>
            <a:ext cx="2514600" cy="685800"/>
          </a:xfrm>
          <a:prstGeom prst="roundRect">
            <a:avLst>
              <a:gd name="adj" fmla="val 12000"/>
            </a:avLst>
          </a:prstGeom>
          <a:solidFill>
            <a:srgbClr val="181F31"/>
          </a:solidFill>
          <a:ln>
            <a:solidFill>
              <a:srgbClr val="444E6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217152" y="1975104"/>
            <a:ext cx="1371600" cy="270843"/>
          </a:xfrm>
          <a:prstGeom prst="rect">
            <a:avLst/>
          </a:prstGeom>
          <a:noFill/>
        </p:spPr>
        <p:txBody>
          <a:bodyPr wrap="square" lIns="27432" tIns="27432" rIns="27432" bIns="27432" anchor="t">
            <a:spAutoFit/>
          </a:bodyPr>
          <a:lstStyle/>
          <a:p>
            <a:r>
              <a:rPr sz="1400" b="1" dirty="0">
                <a:solidFill>
                  <a:srgbClr val="B9C0CF"/>
                </a:solidFill>
                <a:latin typeface="Aptos"/>
              </a:rPr>
              <a:t>APPROVAL</a:t>
            </a:r>
          </a:p>
        </p:txBody>
      </p:sp>
      <p:sp>
        <p:nvSpPr>
          <p:cNvPr id="14" name="TextBox 13"/>
          <p:cNvSpPr txBox="1"/>
          <p:nvPr/>
        </p:nvSpPr>
        <p:spPr>
          <a:xfrm>
            <a:off x="10195560" y="1993392"/>
            <a:ext cx="1051560" cy="270843"/>
          </a:xfrm>
          <a:prstGeom prst="rect">
            <a:avLst/>
          </a:prstGeom>
          <a:noFill/>
        </p:spPr>
        <p:txBody>
          <a:bodyPr wrap="square" lIns="27432" tIns="27432" rIns="27432" bIns="27432" anchor="t">
            <a:spAutoFit/>
          </a:bodyPr>
          <a:lstStyle/>
          <a:p>
            <a:pPr algn="r"/>
            <a:r>
              <a:rPr sz="1400" b="1" dirty="0">
                <a:solidFill>
                  <a:srgbClr val="DE1848"/>
                </a:solidFill>
                <a:latin typeface="Aptos"/>
              </a:rPr>
              <a:t>STATUS</a:t>
            </a:r>
          </a:p>
        </p:txBody>
      </p:sp>
      <p:sp>
        <p:nvSpPr>
          <p:cNvPr id="15" name="Rounded Rectangle 14"/>
          <p:cNvSpPr/>
          <p:nvPr/>
        </p:nvSpPr>
        <p:spPr>
          <a:xfrm>
            <a:off x="8979408" y="2798064"/>
            <a:ext cx="2514600" cy="685800"/>
          </a:xfrm>
          <a:prstGeom prst="roundRect">
            <a:avLst>
              <a:gd name="adj" fmla="val 12000"/>
            </a:avLst>
          </a:prstGeom>
          <a:solidFill>
            <a:srgbClr val="181F31"/>
          </a:solidFill>
          <a:ln>
            <a:solidFill>
              <a:srgbClr val="444E6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217152" y="2916936"/>
            <a:ext cx="1371600" cy="270843"/>
          </a:xfrm>
          <a:prstGeom prst="rect">
            <a:avLst/>
          </a:prstGeom>
          <a:noFill/>
        </p:spPr>
        <p:txBody>
          <a:bodyPr wrap="square" lIns="27432" tIns="27432" rIns="27432" bIns="27432" anchor="t">
            <a:spAutoFit/>
          </a:bodyPr>
          <a:lstStyle/>
          <a:p>
            <a:r>
              <a:rPr sz="1400" b="1" dirty="0">
                <a:solidFill>
                  <a:srgbClr val="B9C0CF"/>
                </a:solidFill>
                <a:latin typeface="Aptos"/>
              </a:rPr>
              <a:t>FEATURES</a:t>
            </a:r>
          </a:p>
        </p:txBody>
      </p:sp>
      <p:sp>
        <p:nvSpPr>
          <p:cNvPr id="17" name="TextBox 16"/>
          <p:cNvSpPr txBox="1"/>
          <p:nvPr/>
        </p:nvSpPr>
        <p:spPr>
          <a:xfrm>
            <a:off x="10195560" y="2935224"/>
            <a:ext cx="1051560" cy="270843"/>
          </a:xfrm>
          <a:prstGeom prst="rect">
            <a:avLst/>
          </a:prstGeom>
          <a:noFill/>
        </p:spPr>
        <p:txBody>
          <a:bodyPr wrap="square" lIns="27432" tIns="27432" rIns="27432" bIns="27432" anchor="t">
            <a:spAutoFit/>
          </a:bodyPr>
          <a:lstStyle/>
          <a:p>
            <a:pPr algn="r"/>
            <a:r>
              <a:rPr sz="1400" b="1" dirty="0">
                <a:solidFill>
                  <a:srgbClr val="DE1848"/>
                </a:solidFill>
                <a:latin typeface="Aptos"/>
              </a:rPr>
              <a:t>INSIGHTS</a:t>
            </a:r>
          </a:p>
        </p:txBody>
      </p:sp>
      <p:sp>
        <p:nvSpPr>
          <p:cNvPr id="18" name="Rectangle 17"/>
          <p:cNvSpPr/>
          <p:nvPr/>
        </p:nvSpPr>
        <p:spPr>
          <a:xfrm>
            <a:off x="9098280" y="5184648"/>
            <a:ext cx="201168" cy="530352"/>
          </a:xfrm>
          <a:prstGeom prst="rect">
            <a:avLst/>
          </a:prstGeom>
          <a:solidFill>
            <a:srgbClr val="5B6F97"/>
          </a:solidFill>
          <a:ln>
            <a:solidFill>
              <a:srgbClr val="5B6F9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9491472" y="4846320"/>
            <a:ext cx="201168" cy="868680"/>
          </a:xfrm>
          <a:prstGeom prst="rect">
            <a:avLst/>
          </a:prstGeom>
          <a:solidFill>
            <a:srgbClr val="5B6F97"/>
          </a:solidFill>
          <a:ln>
            <a:solidFill>
              <a:srgbClr val="5B6F9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9884663" y="5056632"/>
            <a:ext cx="201168" cy="658368"/>
          </a:xfrm>
          <a:prstGeom prst="rect">
            <a:avLst/>
          </a:prstGeom>
          <a:solidFill>
            <a:srgbClr val="5B6F97"/>
          </a:solidFill>
          <a:ln>
            <a:solidFill>
              <a:srgbClr val="5B6F9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10277855" y="4480560"/>
            <a:ext cx="201168" cy="1234440"/>
          </a:xfrm>
          <a:prstGeom prst="rect">
            <a:avLst/>
          </a:prstGeom>
          <a:solidFill>
            <a:srgbClr val="5B6F97"/>
          </a:solidFill>
          <a:ln>
            <a:solidFill>
              <a:srgbClr val="5B6F9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10671048" y="4690872"/>
            <a:ext cx="201168" cy="1024128"/>
          </a:xfrm>
          <a:prstGeom prst="rect">
            <a:avLst/>
          </a:prstGeom>
          <a:solidFill>
            <a:srgbClr val="5B6F97"/>
          </a:solidFill>
          <a:ln>
            <a:solidFill>
              <a:srgbClr val="5B6F9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11064240" y="4233672"/>
            <a:ext cx="201168" cy="1481328"/>
          </a:xfrm>
          <a:prstGeom prst="rect">
            <a:avLst/>
          </a:prstGeom>
          <a:solidFill>
            <a:srgbClr val="DE1848"/>
          </a:solidFill>
          <a:ln>
            <a:solidFill>
              <a:srgbClr val="DE184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053931" y="3838556"/>
            <a:ext cx="2651760" cy="240066"/>
          </a:xfrm>
          <a:prstGeom prst="rect">
            <a:avLst/>
          </a:prstGeom>
          <a:noFill/>
        </p:spPr>
        <p:txBody>
          <a:bodyPr wrap="square" lIns="27432" tIns="27432" rIns="27432" bIns="27432" anchor="t">
            <a:spAutoFit/>
          </a:bodyPr>
          <a:lstStyle/>
          <a:p>
            <a:r>
              <a:rPr sz="1200" b="1" dirty="0">
                <a:solidFill>
                  <a:srgbClr val="F7F8FB"/>
                </a:solidFill>
                <a:latin typeface="Aptos"/>
              </a:rPr>
              <a:t>EXPLORATORY DATA ANALYSIS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81F31"/>
        </a:solidFill>
        <a:effectLst/>
      </p:bgPr>
    </p:bg>
    <p:spTree>
      <p:nvGrpSpPr>
        <p:cNvPr id="1" name=""/>
        <p:cNvGrpSpPr/>
        <p:nvPr/>
      </p:nvGrpSpPr>
      <p:grpSpPr>
        <a:xfrm>
          <a:off x="0" y="0"/>
          <a:ext cx="0" cy="0"/>
          <a:chOff x="0" y="0"/>
          <a:chExt cx="0" cy="0"/>
        </a:xfrm>
      </p:grpSpPr>
      <p:sp>
        <p:nvSpPr>
          <p:cNvPr id="2" name="TextBox 1"/>
          <p:cNvSpPr txBox="1"/>
          <p:nvPr/>
        </p:nvSpPr>
        <p:spPr>
          <a:xfrm>
            <a:off x="713232" y="438912"/>
            <a:ext cx="10698480" cy="502920"/>
          </a:xfrm>
          <a:prstGeom prst="rect">
            <a:avLst/>
          </a:prstGeom>
          <a:noFill/>
        </p:spPr>
        <p:txBody>
          <a:bodyPr wrap="square" lIns="27432" tIns="27432" rIns="27432" bIns="27432" anchor="t">
            <a:spAutoFit/>
          </a:bodyPr>
          <a:lstStyle/>
          <a:p>
            <a:r>
              <a:rPr sz="2800" b="1">
                <a:solidFill>
                  <a:srgbClr val="F7F8FB"/>
                </a:solidFill>
                <a:latin typeface="Aptos"/>
              </a:rPr>
              <a:t>Project Overview</a:t>
            </a:r>
          </a:p>
        </p:txBody>
      </p:sp>
      <p:sp>
        <p:nvSpPr>
          <p:cNvPr id="3" name="Rectangle 2"/>
          <p:cNvSpPr/>
          <p:nvPr/>
        </p:nvSpPr>
        <p:spPr>
          <a:xfrm>
            <a:off x="713232" y="1051560"/>
            <a:ext cx="1005840" cy="64008"/>
          </a:xfrm>
          <a:prstGeom prst="rect">
            <a:avLst/>
          </a:prstGeom>
          <a:solidFill>
            <a:srgbClr val="DE1848"/>
          </a:solidFill>
          <a:ln>
            <a:solidFill>
              <a:srgbClr val="DE184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7792" y="1298448"/>
            <a:ext cx="10698480" cy="363176"/>
          </a:xfrm>
          <a:prstGeom prst="rect">
            <a:avLst/>
          </a:prstGeom>
          <a:noFill/>
        </p:spPr>
        <p:txBody>
          <a:bodyPr wrap="square" lIns="27432" tIns="27432" rIns="27432" bIns="27432" anchor="t">
            <a:spAutoFit/>
          </a:bodyPr>
          <a:lstStyle/>
          <a:p>
            <a:r>
              <a:rPr sz="2000" b="0" dirty="0">
                <a:solidFill>
                  <a:srgbClr val="B9C0CF"/>
                </a:solidFill>
                <a:latin typeface="Aptos"/>
              </a:rPr>
              <a:t>A Python project focused on preprocessing and visualizing loan application data.</a:t>
            </a:r>
          </a:p>
        </p:txBody>
      </p:sp>
      <p:sp>
        <p:nvSpPr>
          <p:cNvPr id="5" name="TextBox 4"/>
          <p:cNvSpPr txBox="1"/>
          <p:nvPr/>
        </p:nvSpPr>
        <p:spPr>
          <a:xfrm>
            <a:off x="731520" y="6510528"/>
            <a:ext cx="4572000" cy="164592"/>
          </a:xfrm>
          <a:prstGeom prst="rect">
            <a:avLst/>
          </a:prstGeom>
          <a:noFill/>
        </p:spPr>
        <p:txBody>
          <a:bodyPr wrap="square" lIns="27432" tIns="27432" rIns="27432" bIns="27432" anchor="t">
            <a:spAutoFit/>
          </a:bodyPr>
          <a:lstStyle/>
          <a:p>
            <a:r>
              <a:rPr sz="850" b="1">
                <a:solidFill>
                  <a:srgbClr val="B9C0CF"/>
                </a:solidFill>
                <a:latin typeface="Aptos"/>
              </a:rPr>
              <a:t>LOAN APPROVAL ANALYSIS  •  02</a:t>
            </a:r>
          </a:p>
        </p:txBody>
      </p:sp>
      <p:sp>
        <p:nvSpPr>
          <p:cNvPr id="6" name="TextBox 5"/>
          <p:cNvSpPr txBox="1"/>
          <p:nvPr/>
        </p:nvSpPr>
        <p:spPr>
          <a:xfrm>
            <a:off x="868680" y="1965960"/>
            <a:ext cx="10287000" cy="1163395"/>
          </a:xfrm>
          <a:prstGeom prst="rect">
            <a:avLst/>
          </a:prstGeom>
          <a:noFill/>
        </p:spPr>
        <p:txBody>
          <a:bodyPr wrap="square" lIns="27432" tIns="27432" rIns="27432" bIns="27432" anchor="t">
            <a:spAutoFit/>
          </a:bodyPr>
          <a:lstStyle/>
          <a:p>
            <a:r>
              <a:rPr sz="2400" b="1" dirty="0">
                <a:solidFill>
                  <a:srgbClr val="F7F8FB"/>
                </a:solidFill>
                <a:latin typeface="Aptos"/>
              </a:rPr>
              <a:t>This project explores 4,269 loan application records with 13 fields, including applicant income, loan amount, credit score, assets, education, employment status and loan outcome.</a:t>
            </a:r>
          </a:p>
        </p:txBody>
      </p:sp>
      <p:sp>
        <p:nvSpPr>
          <p:cNvPr id="7" name="TextBox 6"/>
          <p:cNvSpPr txBox="1"/>
          <p:nvPr/>
        </p:nvSpPr>
        <p:spPr>
          <a:xfrm>
            <a:off x="868680" y="3443748"/>
            <a:ext cx="10287000" cy="1005840"/>
          </a:xfrm>
          <a:prstGeom prst="rect">
            <a:avLst/>
          </a:prstGeom>
          <a:noFill/>
        </p:spPr>
        <p:txBody>
          <a:bodyPr wrap="square" lIns="27432" tIns="27432" rIns="27432" bIns="27432" anchor="t">
            <a:spAutoFit/>
          </a:bodyPr>
          <a:lstStyle/>
          <a:p>
            <a:r>
              <a:rPr sz="2000" b="0" dirty="0">
                <a:solidFill>
                  <a:srgbClr val="B9C0CF"/>
                </a:solidFill>
                <a:latin typeface="Aptos"/>
              </a:rPr>
              <a:t>The notebook inspects data quality and column types, summarizes numeric and categorical variables, creates distributions and comparisons, checks potential outliers in CIBIL scores using the IQR method, and explores relationships between financial features and loan status.</a:t>
            </a:r>
          </a:p>
        </p:txBody>
      </p:sp>
      <p:sp>
        <p:nvSpPr>
          <p:cNvPr id="8" name="Rounded Rectangle 7"/>
          <p:cNvSpPr/>
          <p:nvPr/>
        </p:nvSpPr>
        <p:spPr>
          <a:xfrm>
            <a:off x="868680" y="4703256"/>
            <a:ext cx="4572000" cy="1097280"/>
          </a:xfrm>
          <a:prstGeom prst="roundRect">
            <a:avLst>
              <a:gd name="adj" fmla="val 12000"/>
            </a:avLst>
          </a:prstGeom>
          <a:solidFill>
            <a:srgbClr val="273045"/>
          </a:solidFill>
          <a:ln>
            <a:solidFill>
              <a:srgbClr val="444E6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43000" y="4787128"/>
            <a:ext cx="1828800" cy="301621"/>
          </a:xfrm>
          <a:prstGeom prst="rect">
            <a:avLst/>
          </a:prstGeom>
          <a:noFill/>
        </p:spPr>
        <p:txBody>
          <a:bodyPr wrap="square" lIns="27432" tIns="27432" rIns="27432" bIns="27432" anchor="t">
            <a:spAutoFit/>
          </a:bodyPr>
          <a:lstStyle/>
          <a:p>
            <a:r>
              <a:rPr sz="1600" b="1" dirty="0">
                <a:solidFill>
                  <a:srgbClr val="DE1848"/>
                </a:solidFill>
                <a:latin typeface="Aptos"/>
              </a:rPr>
              <a:t>PROJECT FILE</a:t>
            </a:r>
          </a:p>
        </p:txBody>
      </p:sp>
      <p:sp>
        <p:nvSpPr>
          <p:cNvPr id="10" name="TextBox 9"/>
          <p:cNvSpPr txBox="1"/>
          <p:nvPr/>
        </p:nvSpPr>
        <p:spPr>
          <a:xfrm>
            <a:off x="1143000" y="5183072"/>
            <a:ext cx="4023360" cy="301621"/>
          </a:xfrm>
          <a:prstGeom prst="rect">
            <a:avLst/>
          </a:prstGeom>
          <a:noFill/>
        </p:spPr>
        <p:txBody>
          <a:bodyPr wrap="square" lIns="27432" tIns="27432" rIns="27432" bIns="27432" anchor="t">
            <a:spAutoFit/>
          </a:bodyPr>
          <a:lstStyle/>
          <a:p>
            <a:r>
              <a:rPr sz="1600" b="1" dirty="0">
                <a:solidFill>
                  <a:srgbClr val="F7F8FB"/>
                </a:solidFill>
                <a:latin typeface="Aptos"/>
              </a:rPr>
              <a:t>Loan approval python </a:t>
            </a:r>
            <a:r>
              <a:rPr sz="1600" b="1" dirty="0" err="1">
                <a:solidFill>
                  <a:srgbClr val="F7F8FB"/>
                </a:solidFill>
                <a:latin typeface="Aptos"/>
              </a:rPr>
              <a:t>project.ipynb</a:t>
            </a:r>
            <a:endParaRPr sz="1600" b="1" dirty="0">
              <a:solidFill>
                <a:srgbClr val="F7F8FB"/>
              </a:solidFill>
              <a:latin typeface="Aptos"/>
            </a:endParaRPr>
          </a:p>
        </p:txBody>
      </p:sp>
      <p:sp>
        <p:nvSpPr>
          <p:cNvPr id="11" name="Rounded Rectangle 10"/>
          <p:cNvSpPr/>
          <p:nvPr/>
        </p:nvSpPr>
        <p:spPr>
          <a:xfrm>
            <a:off x="5806440" y="4703256"/>
            <a:ext cx="4572000" cy="1097280"/>
          </a:xfrm>
          <a:prstGeom prst="roundRect">
            <a:avLst>
              <a:gd name="adj" fmla="val 12000"/>
            </a:avLst>
          </a:prstGeom>
          <a:solidFill>
            <a:srgbClr val="273045"/>
          </a:solidFill>
          <a:ln>
            <a:solidFill>
              <a:srgbClr val="444E6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080760" y="4796960"/>
            <a:ext cx="1828800" cy="301621"/>
          </a:xfrm>
          <a:prstGeom prst="rect">
            <a:avLst/>
          </a:prstGeom>
          <a:noFill/>
        </p:spPr>
        <p:txBody>
          <a:bodyPr wrap="square" lIns="27432" tIns="27432" rIns="27432" bIns="27432" anchor="t">
            <a:spAutoFit/>
          </a:bodyPr>
          <a:lstStyle/>
          <a:p>
            <a:r>
              <a:rPr sz="1600" b="1" dirty="0">
                <a:solidFill>
                  <a:srgbClr val="DE1848"/>
                </a:solidFill>
                <a:latin typeface="Aptos"/>
              </a:rPr>
              <a:t>DATASET</a:t>
            </a:r>
          </a:p>
        </p:txBody>
      </p:sp>
      <p:sp>
        <p:nvSpPr>
          <p:cNvPr id="13" name="TextBox 12"/>
          <p:cNvSpPr txBox="1"/>
          <p:nvPr/>
        </p:nvSpPr>
        <p:spPr>
          <a:xfrm>
            <a:off x="6080760" y="5074920"/>
            <a:ext cx="3977639" cy="547842"/>
          </a:xfrm>
          <a:prstGeom prst="rect">
            <a:avLst/>
          </a:prstGeom>
          <a:noFill/>
        </p:spPr>
        <p:txBody>
          <a:bodyPr wrap="square" lIns="27432" tIns="27432" rIns="27432" bIns="27432" anchor="t">
            <a:spAutoFit/>
          </a:bodyPr>
          <a:lstStyle/>
          <a:p>
            <a:r>
              <a:rPr sz="1600" b="1" dirty="0">
                <a:solidFill>
                  <a:srgbClr val="F7F8FB"/>
                </a:solidFill>
                <a:latin typeface="Aptos"/>
              </a:rPr>
              <a:t>loan_approval_dataset.csv  </a:t>
            </a:r>
            <a:endParaRPr lang="en-US" sz="1600" b="1" dirty="0">
              <a:solidFill>
                <a:srgbClr val="F7F8FB"/>
              </a:solidFill>
              <a:latin typeface="Aptos"/>
            </a:endParaRPr>
          </a:p>
          <a:p>
            <a:r>
              <a:rPr sz="1600" b="1" dirty="0">
                <a:solidFill>
                  <a:srgbClr val="F7F8FB"/>
                </a:solidFill>
                <a:latin typeface="Aptos"/>
              </a:rPr>
              <a:t>• 4,269 rows  • 13 columns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81F31"/>
        </a:solidFill>
        <a:effectLst/>
      </p:bgPr>
    </p:bg>
    <p:spTree>
      <p:nvGrpSpPr>
        <p:cNvPr id="1" name=""/>
        <p:cNvGrpSpPr/>
        <p:nvPr/>
      </p:nvGrpSpPr>
      <p:grpSpPr>
        <a:xfrm>
          <a:off x="0" y="0"/>
          <a:ext cx="0" cy="0"/>
          <a:chOff x="0" y="0"/>
          <a:chExt cx="0" cy="0"/>
        </a:xfrm>
      </p:grpSpPr>
      <p:sp>
        <p:nvSpPr>
          <p:cNvPr id="2" name="TextBox 1"/>
          <p:cNvSpPr txBox="1"/>
          <p:nvPr/>
        </p:nvSpPr>
        <p:spPr>
          <a:xfrm>
            <a:off x="713232" y="438912"/>
            <a:ext cx="10698480" cy="502920"/>
          </a:xfrm>
          <a:prstGeom prst="rect">
            <a:avLst/>
          </a:prstGeom>
          <a:noFill/>
        </p:spPr>
        <p:txBody>
          <a:bodyPr wrap="square" lIns="27432" tIns="27432" rIns="27432" bIns="27432" anchor="t">
            <a:spAutoFit/>
          </a:bodyPr>
          <a:lstStyle/>
          <a:p>
            <a:r>
              <a:rPr sz="2800" b="1">
                <a:solidFill>
                  <a:srgbClr val="F7F8FB"/>
                </a:solidFill>
                <a:latin typeface="Aptos"/>
              </a:rPr>
              <a:t>Project Objectives</a:t>
            </a:r>
          </a:p>
        </p:txBody>
      </p:sp>
      <p:sp>
        <p:nvSpPr>
          <p:cNvPr id="3" name="Rectangle 2"/>
          <p:cNvSpPr/>
          <p:nvPr/>
        </p:nvSpPr>
        <p:spPr>
          <a:xfrm>
            <a:off x="713232" y="1051560"/>
            <a:ext cx="1005840" cy="64008"/>
          </a:xfrm>
          <a:prstGeom prst="rect">
            <a:avLst/>
          </a:prstGeom>
          <a:solidFill>
            <a:srgbClr val="DE1848"/>
          </a:solidFill>
          <a:ln>
            <a:solidFill>
              <a:srgbClr val="DE184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49808" y="1298448"/>
            <a:ext cx="10698480" cy="378565"/>
          </a:xfrm>
          <a:prstGeom prst="rect">
            <a:avLst/>
          </a:prstGeom>
          <a:noFill/>
        </p:spPr>
        <p:txBody>
          <a:bodyPr wrap="square" lIns="27432" tIns="27432" rIns="27432" bIns="27432" anchor="t">
            <a:spAutoFit/>
          </a:bodyPr>
          <a:lstStyle/>
          <a:p>
            <a:r>
              <a:rPr sz="2100" b="0" dirty="0">
                <a:solidFill>
                  <a:srgbClr val="B9C0CF"/>
                </a:solidFill>
                <a:latin typeface="Aptos"/>
              </a:rPr>
              <a:t>Understand applicant characteristics and explore patterns associated with loan outcomes.</a:t>
            </a:r>
          </a:p>
        </p:txBody>
      </p:sp>
      <p:sp>
        <p:nvSpPr>
          <p:cNvPr id="5" name="TextBox 4"/>
          <p:cNvSpPr txBox="1"/>
          <p:nvPr/>
        </p:nvSpPr>
        <p:spPr>
          <a:xfrm>
            <a:off x="731520" y="6510528"/>
            <a:ext cx="4572000" cy="164592"/>
          </a:xfrm>
          <a:prstGeom prst="rect">
            <a:avLst/>
          </a:prstGeom>
          <a:noFill/>
        </p:spPr>
        <p:txBody>
          <a:bodyPr wrap="square" lIns="27432" tIns="27432" rIns="27432" bIns="27432" anchor="t">
            <a:spAutoFit/>
          </a:bodyPr>
          <a:lstStyle/>
          <a:p>
            <a:r>
              <a:rPr sz="850" b="1">
                <a:solidFill>
                  <a:srgbClr val="B9C0CF"/>
                </a:solidFill>
                <a:latin typeface="Aptos"/>
              </a:rPr>
              <a:t>LOAN APPROVAL ANALYSIS  •  03</a:t>
            </a:r>
          </a:p>
        </p:txBody>
      </p:sp>
      <p:sp>
        <p:nvSpPr>
          <p:cNvPr id="6" name="Rounded Rectangle 5"/>
          <p:cNvSpPr/>
          <p:nvPr/>
        </p:nvSpPr>
        <p:spPr>
          <a:xfrm>
            <a:off x="868680" y="1861736"/>
            <a:ext cx="411480" cy="411480"/>
          </a:xfrm>
          <a:prstGeom prst="roundRect">
            <a:avLst>
              <a:gd name="adj" fmla="val 12000"/>
            </a:avLst>
          </a:prstGeom>
          <a:solidFill>
            <a:srgbClr val="DE1848"/>
          </a:solidFill>
          <a:ln>
            <a:solidFill>
              <a:srgbClr val="DE184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1904704"/>
            <a:ext cx="411480" cy="332399"/>
          </a:xfrm>
          <a:prstGeom prst="rect">
            <a:avLst/>
          </a:prstGeom>
          <a:noFill/>
        </p:spPr>
        <p:txBody>
          <a:bodyPr wrap="square" lIns="27432" tIns="27432" rIns="27432" bIns="27432" anchor="t">
            <a:spAutoFit/>
          </a:bodyPr>
          <a:lstStyle/>
          <a:p>
            <a:pPr algn="ctr"/>
            <a:r>
              <a:rPr b="1" dirty="0">
                <a:solidFill>
                  <a:srgbClr val="F7F8FB"/>
                </a:solidFill>
                <a:latin typeface="Aptos"/>
              </a:rPr>
              <a:t>1</a:t>
            </a:r>
          </a:p>
        </p:txBody>
      </p:sp>
      <p:sp>
        <p:nvSpPr>
          <p:cNvPr id="8" name="TextBox 7"/>
          <p:cNvSpPr txBox="1"/>
          <p:nvPr/>
        </p:nvSpPr>
        <p:spPr>
          <a:xfrm>
            <a:off x="1600200" y="1773936"/>
            <a:ext cx="9509760" cy="794064"/>
          </a:xfrm>
          <a:prstGeom prst="rect">
            <a:avLst/>
          </a:prstGeom>
          <a:noFill/>
        </p:spPr>
        <p:txBody>
          <a:bodyPr wrap="square" lIns="27432" tIns="27432" rIns="27432" bIns="27432" anchor="t">
            <a:spAutoFit/>
          </a:bodyPr>
          <a:lstStyle/>
          <a:p>
            <a:r>
              <a:rPr sz="2400" b="0" dirty="0">
                <a:solidFill>
                  <a:srgbClr val="F7F8FB"/>
                </a:solidFill>
                <a:latin typeface="Aptos"/>
              </a:rPr>
              <a:t>Inspect dataset structure, data types, distinct values, missing values and duplicate rows.</a:t>
            </a:r>
          </a:p>
        </p:txBody>
      </p:sp>
      <p:sp>
        <p:nvSpPr>
          <p:cNvPr id="9" name="Rounded Rectangle 8"/>
          <p:cNvSpPr/>
          <p:nvPr/>
        </p:nvSpPr>
        <p:spPr>
          <a:xfrm>
            <a:off x="868680" y="2925192"/>
            <a:ext cx="411480" cy="411480"/>
          </a:xfrm>
          <a:prstGeom prst="roundRect">
            <a:avLst>
              <a:gd name="adj" fmla="val 12000"/>
            </a:avLst>
          </a:prstGeom>
          <a:solidFill>
            <a:srgbClr val="DE1848"/>
          </a:solidFill>
          <a:ln>
            <a:solidFill>
              <a:srgbClr val="DE184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8680" y="2953512"/>
            <a:ext cx="411480" cy="332399"/>
          </a:xfrm>
          <a:prstGeom prst="rect">
            <a:avLst/>
          </a:prstGeom>
          <a:noFill/>
        </p:spPr>
        <p:txBody>
          <a:bodyPr wrap="square" lIns="27432" tIns="27432" rIns="27432" bIns="27432" anchor="t">
            <a:spAutoFit/>
          </a:bodyPr>
          <a:lstStyle/>
          <a:p>
            <a:pPr algn="ctr"/>
            <a:r>
              <a:rPr b="1" dirty="0">
                <a:solidFill>
                  <a:srgbClr val="F7F8FB"/>
                </a:solidFill>
                <a:latin typeface="Aptos"/>
              </a:rPr>
              <a:t>2</a:t>
            </a:r>
          </a:p>
        </p:txBody>
      </p:sp>
      <p:sp>
        <p:nvSpPr>
          <p:cNvPr id="11" name="TextBox 10"/>
          <p:cNvSpPr txBox="1"/>
          <p:nvPr/>
        </p:nvSpPr>
        <p:spPr>
          <a:xfrm>
            <a:off x="1600200" y="2798064"/>
            <a:ext cx="9509760" cy="794064"/>
          </a:xfrm>
          <a:prstGeom prst="rect">
            <a:avLst/>
          </a:prstGeom>
          <a:noFill/>
        </p:spPr>
        <p:txBody>
          <a:bodyPr wrap="square" lIns="27432" tIns="27432" rIns="27432" bIns="27432" anchor="t">
            <a:spAutoFit/>
          </a:bodyPr>
          <a:lstStyle/>
          <a:p>
            <a:r>
              <a:rPr sz="2400" b="0" dirty="0">
                <a:solidFill>
                  <a:srgbClr val="F7F8FB"/>
                </a:solidFill>
                <a:latin typeface="Aptos"/>
              </a:rPr>
              <a:t>Summarize numeric and categorical features using descriptive statistics and value counts.</a:t>
            </a:r>
          </a:p>
        </p:txBody>
      </p:sp>
      <p:sp>
        <p:nvSpPr>
          <p:cNvPr id="12" name="Rounded Rectangle 11"/>
          <p:cNvSpPr/>
          <p:nvPr/>
        </p:nvSpPr>
        <p:spPr>
          <a:xfrm>
            <a:off x="868680" y="3988648"/>
            <a:ext cx="411480" cy="411480"/>
          </a:xfrm>
          <a:prstGeom prst="roundRect">
            <a:avLst>
              <a:gd name="adj" fmla="val 12000"/>
            </a:avLst>
          </a:prstGeom>
          <a:solidFill>
            <a:srgbClr val="DE1848"/>
          </a:solidFill>
          <a:ln>
            <a:solidFill>
              <a:srgbClr val="DE184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68680" y="4031616"/>
            <a:ext cx="411480" cy="332399"/>
          </a:xfrm>
          <a:prstGeom prst="rect">
            <a:avLst/>
          </a:prstGeom>
          <a:noFill/>
        </p:spPr>
        <p:txBody>
          <a:bodyPr wrap="square" lIns="27432" tIns="27432" rIns="27432" bIns="27432" anchor="t">
            <a:spAutoFit/>
          </a:bodyPr>
          <a:lstStyle/>
          <a:p>
            <a:pPr algn="ctr"/>
            <a:r>
              <a:rPr b="1" dirty="0">
                <a:solidFill>
                  <a:srgbClr val="F7F8FB"/>
                </a:solidFill>
                <a:latin typeface="Aptos"/>
              </a:rPr>
              <a:t>3</a:t>
            </a:r>
          </a:p>
        </p:txBody>
      </p:sp>
      <p:sp>
        <p:nvSpPr>
          <p:cNvPr id="14" name="TextBox 13"/>
          <p:cNvSpPr txBox="1"/>
          <p:nvPr/>
        </p:nvSpPr>
        <p:spPr>
          <a:xfrm>
            <a:off x="1600200" y="3822192"/>
            <a:ext cx="9509760" cy="794064"/>
          </a:xfrm>
          <a:prstGeom prst="rect">
            <a:avLst/>
          </a:prstGeom>
          <a:noFill/>
        </p:spPr>
        <p:txBody>
          <a:bodyPr wrap="square" lIns="27432" tIns="27432" rIns="27432" bIns="27432" anchor="t">
            <a:spAutoFit/>
          </a:bodyPr>
          <a:lstStyle/>
          <a:p>
            <a:r>
              <a:rPr sz="2400" b="0" dirty="0">
                <a:solidFill>
                  <a:srgbClr val="F7F8FB"/>
                </a:solidFill>
                <a:latin typeface="Aptos"/>
              </a:rPr>
              <a:t>Visualize loan status and financial-feature distributions using histograms, count plots and box plots.</a:t>
            </a:r>
          </a:p>
        </p:txBody>
      </p:sp>
      <p:sp>
        <p:nvSpPr>
          <p:cNvPr id="15" name="Rounded Rectangle 14"/>
          <p:cNvSpPr/>
          <p:nvPr/>
        </p:nvSpPr>
        <p:spPr>
          <a:xfrm>
            <a:off x="868680" y="5012776"/>
            <a:ext cx="411480" cy="411480"/>
          </a:xfrm>
          <a:prstGeom prst="roundRect">
            <a:avLst>
              <a:gd name="adj" fmla="val 12000"/>
            </a:avLst>
          </a:prstGeom>
          <a:solidFill>
            <a:srgbClr val="DE1848"/>
          </a:solidFill>
          <a:ln>
            <a:solidFill>
              <a:srgbClr val="DE184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68680" y="5055744"/>
            <a:ext cx="411480" cy="332399"/>
          </a:xfrm>
          <a:prstGeom prst="rect">
            <a:avLst/>
          </a:prstGeom>
          <a:noFill/>
        </p:spPr>
        <p:txBody>
          <a:bodyPr wrap="square" lIns="27432" tIns="27432" rIns="27432" bIns="27432" anchor="t">
            <a:spAutoFit/>
          </a:bodyPr>
          <a:lstStyle/>
          <a:p>
            <a:pPr algn="ctr"/>
            <a:r>
              <a:rPr b="1" dirty="0">
                <a:solidFill>
                  <a:srgbClr val="F7F8FB"/>
                </a:solidFill>
                <a:latin typeface="Aptos"/>
              </a:rPr>
              <a:t>4</a:t>
            </a:r>
          </a:p>
        </p:txBody>
      </p:sp>
      <p:sp>
        <p:nvSpPr>
          <p:cNvPr id="17" name="TextBox 16"/>
          <p:cNvSpPr txBox="1"/>
          <p:nvPr/>
        </p:nvSpPr>
        <p:spPr>
          <a:xfrm>
            <a:off x="1600200" y="4846320"/>
            <a:ext cx="9509760" cy="794064"/>
          </a:xfrm>
          <a:prstGeom prst="rect">
            <a:avLst/>
          </a:prstGeom>
          <a:noFill/>
        </p:spPr>
        <p:txBody>
          <a:bodyPr wrap="square" lIns="27432" tIns="27432" rIns="27432" bIns="27432" anchor="t">
            <a:spAutoFit/>
          </a:bodyPr>
          <a:lstStyle/>
          <a:p>
            <a:r>
              <a:rPr sz="2400" b="0" dirty="0">
                <a:solidFill>
                  <a:srgbClr val="F7F8FB"/>
                </a:solidFill>
                <a:latin typeface="Aptos"/>
              </a:rPr>
              <a:t>Explore income–loan amount relationships and feature correlations; investigate potential CIBIL-score outliers with IQR.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81F31"/>
        </a:solidFill>
        <a:effectLst/>
      </p:bgPr>
    </p:bg>
    <p:spTree>
      <p:nvGrpSpPr>
        <p:cNvPr id="1" name=""/>
        <p:cNvGrpSpPr/>
        <p:nvPr/>
      </p:nvGrpSpPr>
      <p:grpSpPr>
        <a:xfrm>
          <a:off x="0" y="0"/>
          <a:ext cx="0" cy="0"/>
          <a:chOff x="0" y="0"/>
          <a:chExt cx="0" cy="0"/>
        </a:xfrm>
      </p:grpSpPr>
      <p:sp>
        <p:nvSpPr>
          <p:cNvPr id="2" name="TextBox 1"/>
          <p:cNvSpPr txBox="1"/>
          <p:nvPr/>
        </p:nvSpPr>
        <p:spPr>
          <a:xfrm>
            <a:off x="713232" y="438912"/>
            <a:ext cx="10698480" cy="502920"/>
          </a:xfrm>
          <a:prstGeom prst="rect">
            <a:avLst/>
          </a:prstGeom>
          <a:noFill/>
        </p:spPr>
        <p:txBody>
          <a:bodyPr wrap="square" lIns="27432" tIns="27432" rIns="27432" bIns="27432" anchor="t">
            <a:spAutoFit/>
          </a:bodyPr>
          <a:lstStyle/>
          <a:p>
            <a:r>
              <a:rPr sz="2800" b="1">
                <a:solidFill>
                  <a:srgbClr val="F7F8FB"/>
                </a:solidFill>
                <a:latin typeface="Aptos"/>
              </a:rPr>
              <a:t>Tools &amp; Workflow</a:t>
            </a:r>
          </a:p>
        </p:txBody>
      </p:sp>
      <p:sp>
        <p:nvSpPr>
          <p:cNvPr id="3" name="Rectangle 2"/>
          <p:cNvSpPr/>
          <p:nvPr/>
        </p:nvSpPr>
        <p:spPr>
          <a:xfrm>
            <a:off x="713232" y="1051560"/>
            <a:ext cx="1005840" cy="64008"/>
          </a:xfrm>
          <a:prstGeom prst="rect">
            <a:avLst/>
          </a:prstGeom>
          <a:solidFill>
            <a:srgbClr val="DE1848"/>
          </a:solidFill>
          <a:ln>
            <a:solidFill>
              <a:srgbClr val="DE184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49808" y="1298448"/>
            <a:ext cx="10698480" cy="424732"/>
          </a:xfrm>
          <a:prstGeom prst="rect">
            <a:avLst/>
          </a:prstGeom>
          <a:noFill/>
        </p:spPr>
        <p:txBody>
          <a:bodyPr wrap="square" lIns="27432" tIns="27432" rIns="27432" bIns="27432" anchor="t">
            <a:spAutoFit/>
          </a:bodyPr>
          <a:lstStyle/>
          <a:p>
            <a:r>
              <a:rPr sz="2400" b="0" dirty="0">
                <a:solidFill>
                  <a:srgbClr val="B9C0CF"/>
                </a:solidFill>
                <a:latin typeface="Aptos"/>
              </a:rPr>
              <a:t>Libraries and analysis steps used in the submitted Jupyter Notebook.</a:t>
            </a:r>
          </a:p>
        </p:txBody>
      </p:sp>
      <p:sp>
        <p:nvSpPr>
          <p:cNvPr id="5" name="TextBox 4"/>
          <p:cNvSpPr txBox="1"/>
          <p:nvPr/>
        </p:nvSpPr>
        <p:spPr>
          <a:xfrm>
            <a:off x="731520" y="6510528"/>
            <a:ext cx="4572000" cy="164592"/>
          </a:xfrm>
          <a:prstGeom prst="rect">
            <a:avLst/>
          </a:prstGeom>
          <a:noFill/>
        </p:spPr>
        <p:txBody>
          <a:bodyPr wrap="square" lIns="27432" tIns="27432" rIns="27432" bIns="27432" anchor="t">
            <a:spAutoFit/>
          </a:bodyPr>
          <a:lstStyle/>
          <a:p>
            <a:r>
              <a:rPr sz="850" b="1">
                <a:solidFill>
                  <a:srgbClr val="B9C0CF"/>
                </a:solidFill>
                <a:latin typeface="Aptos"/>
              </a:rPr>
              <a:t>LOAN APPROVAL ANALYSIS  •  04</a:t>
            </a:r>
          </a:p>
        </p:txBody>
      </p:sp>
      <p:sp>
        <p:nvSpPr>
          <p:cNvPr id="6" name="TextBox 5"/>
          <p:cNvSpPr txBox="1"/>
          <p:nvPr/>
        </p:nvSpPr>
        <p:spPr>
          <a:xfrm>
            <a:off x="896112" y="1828800"/>
            <a:ext cx="3840480" cy="363176"/>
          </a:xfrm>
          <a:prstGeom prst="rect">
            <a:avLst/>
          </a:prstGeom>
          <a:noFill/>
        </p:spPr>
        <p:txBody>
          <a:bodyPr wrap="square" lIns="27432" tIns="27432" rIns="27432" bIns="27432" anchor="t">
            <a:spAutoFit/>
          </a:bodyPr>
          <a:lstStyle/>
          <a:p>
            <a:r>
              <a:rPr sz="2000" b="1" dirty="0">
                <a:solidFill>
                  <a:srgbClr val="DE1848"/>
                </a:solidFill>
                <a:latin typeface="Aptos"/>
              </a:rPr>
              <a:t>TOOLS &amp; TECHNOLOGY</a:t>
            </a:r>
          </a:p>
        </p:txBody>
      </p:sp>
      <p:sp>
        <p:nvSpPr>
          <p:cNvPr id="7" name="TextBox 6"/>
          <p:cNvSpPr txBox="1"/>
          <p:nvPr/>
        </p:nvSpPr>
        <p:spPr>
          <a:xfrm>
            <a:off x="914400" y="2366032"/>
            <a:ext cx="4251960" cy="670953"/>
          </a:xfrm>
          <a:prstGeom prst="rect">
            <a:avLst/>
          </a:prstGeom>
          <a:noFill/>
        </p:spPr>
        <p:txBody>
          <a:bodyPr wrap="square" lIns="27432" tIns="27432" rIns="27432" bIns="27432" anchor="t">
            <a:spAutoFit/>
          </a:bodyPr>
          <a:lstStyle/>
          <a:p>
            <a:r>
              <a:rPr sz="2000" b="0" dirty="0">
                <a:solidFill>
                  <a:srgbClr val="F7F8FB"/>
                </a:solidFill>
                <a:latin typeface="Aptos"/>
              </a:rPr>
              <a:t>• Python — analysis workflow and control logic</a:t>
            </a:r>
          </a:p>
        </p:txBody>
      </p:sp>
      <p:sp>
        <p:nvSpPr>
          <p:cNvPr id="8" name="TextBox 7"/>
          <p:cNvSpPr txBox="1"/>
          <p:nvPr/>
        </p:nvSpPr>
        <p:spPr>
          <a:xfrm>
            <a:off x="914400" y="3115641"/>
            <a:ext cx="4251960" cy="670953"/>
          </a:xfrm>
          <a:prstGeom prst="rect">
            <a:avLst/>
          </a:prstGeom>
          <a:noFill/>
        </p:spPr>
        <p:txBody>
          <a:bodyPr wrap="square" lIns="27432" tIns="27432" rIns="27432" bIns="27432" anchor="t">
            <a:spAutoFit/>
          </a:bodyPr>
          <a:lstStyle/>
          <a:p>
            <a:r>
              <a:rPr sz="2000" b="0" dirty="0">
                <a:solidFill>
                  <a:srgbClr val="F7F8FB"/>
                </a:solidFill>
                <a:latin typeface="Aptos"/>
              </a:rPr>
              <a:t>• Pandas — loading, inspecting and preparing tabular data</a:t>
            </a:r>
          </a:p>
        </p:txBody>
      </p:sp>
      <p:sp>
        <p:nvSpPr>
          <p:cNvPr id="9" name="TextBox 8"/>
          <p:cNvSpPr txBox="1"/>
          <p:nvPr/>
        </p:nvSpPr>
        <p:spPr>
          <a:xfrm>
            <a:off x="914400" y="3816096"/>
            <a:ext cx="4251960" cy="363176"/>
          </a:xfrm>
          <a:prstGeom prst="rect">
            <a:avLst/>
          </a:prstGeom>
          <a:noFill/>
        </p:spPr>
        <p:txBody>
          <a:bodyPr wrap="square" lIns="27432" tIns="27432" rIns="27432" bIns="27432" anchor="t">
            <a:spAutoFit/>
          </a:bodyPr>
          <a:lstStyle/>
          <a:p>
            <a:r>
              <a:rPr sz="2000" b="0" dirty="0">
                <a:solidFill>
                  <a:srgbClr val="F7F8FB"/>
                </a:solidFill>
                <a:latin typeface="Aptos"/>
              </a:rPr>
              <a:t>• NumPy — numerical operations</a:t>
            </a:r>
          </a:p>
        </p:txBody>
      </p:sp>
      <p:sp>
        <p:nvSpPr>
          <p:cNvPr id="10" name="TextBox 9"/>
          <p:cNvSpPr txBox="1"/>
          <p:nvPr/>
        </p:nvSpPr>
        <p:spPr>
          <a:xfrm>
            <a:off x="914400" y="4378896"/>
            <a:ext cx="4251960" cy="670953"/>
          </a:xfrm>
          <a:prstGeom prst="rect">
            <a:avLst/>
          </a:prstGeom>
          <a:noFill/>
        </p:spPr>
        <p:txBody>
          <a:bodyPr wrap="square" lIns="27432" tIns="27432" rIns="27432" bIns="27432" anchor="t">
            <a:spAutoFit/>
          </a:bodyPr>
          <a:lstStyle/>
          <a:p>
            <a:r>
              <a:rPr sz="2000" b="0" dirty="0">
                <a:solidFill>
                  <a:srgbClr val="F7F8FB"/>
                </a:solidFill>
                <a:latin typeface="Aptos"/>
              </a:rPr>
              <a:t>• Matplotlib and Seaborn — statistical charts</a:t>
            </a:r>
          </a:p>
        </p:txBody>
      </p:sp>
      <p:sp>
        <p:nvSpPr>
          <p:cNvPr id="11" name="TextBox 10"/>
          <p:cNvSpPr txBox="1"/>
          <p:nvPr/>
        </p:nvSpPr>
        <p:spPr>
          <a:xfrm>
            <a:off x="914400" y="5197330"/>
            <a:ext cx="4251960" cy="670953"/>
          </a:xfrm>
          <a:prstGeom prst="rect">
            <a:avLst/>
          </a:prstGeom>
          <a:noFill/>
        </p:spPr>
        <p:txBody>
          <a:bodyPr wrap="square" lIns="27432" tIns="27432" rIns="27432" bIns="27432" anchor="t">
            <a:spAutoFit/>
          </a:bodyPr>
          <a:lstStyle/>
          <a:p>
            <a:r>
              <a:rPr sz="2000" b="0" dirty="0">
                <a:solidFill>
                  <a:srgbClr val="F7F8FB"/>
                </a:solidFill>
                <a:latin typeface="Aptos"/>
              </a:rPr>
              <a:t>• Jupyter Notebook — documenting and running analysis</a:t>
            </a:r>
          </a:p>
        </p:txBody>
      </p:sp>
      <p:sp>
        <p:nvSpPr>
          <p:cNvPr id="12" name="TextBox 11"/>
          <p:cNvSpPr txBox="1"/>
          <p:nvPr/>
        </p:nvSpPr>
        <p:spPr>
          <a:xfrm>
            <a:off x="5623560" y="1828800"/>
            <a:ext cx="2743200" cy="363176"/>
          </a:xfrm>
          <a:prstGeom prst="rect">
            <a:avLst/>
          </a:prstGeom>
          <a:noFill/>
        </p:spPr>
        <p:txBody>
          <a:bodyPr wrap="square" lIns="27432" tIns="27432" rIns="27432" bIns="27432" anchor="t">
            <a:spAutoFit/>
          </a:bodyPr>
          <a:lstStyle/>
          <a:p>
            <a:r>
              <a:rPr sz="2000" b="1" dirty="0">
                <a:solidFill>
                  <a:srgbClr val="DE1848"/>
                </a:solidFill>
                <a:latin typeface="Aptos"/>
              </a:rPr>
              <a:t>WORKFLOW</a:t>
            </a:r>
          </a:p>
        </p:txBody>
      </p:sp>
      <p:sp>
        <p:nvSpPr>
          <p:cNvPr id="13" name="Rounded Rectangle 12"/>
          <p:cNvSpPr/>
          <p:nvPr/>
        </p:nvSpPr>
        <p:spPr>
          <a:xfrm>
            <a:off x="5650992" y="2326704"/>
            <a:ext cx="329184" cy="329184"/>
          </a:xfrm>
          <a:prstGeom prst="roundRect">
            <a:avLst>
              <a:gd name="adj" fmla="val 12000"/>
            </a:avLst>
          </a:prstGeom>
          <a:solidFill>
            <a:srgbClr val="DE1848"/>
          </a:solidFill>
          <a:ln>
            <a:solidFill>
              <a:srgbClr val="DE184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650992" y="2340864"/>
            <a:ext cx="329184" cy="332399"/>
          </a:xfrm>
          <a:prstGeom prst="rect">
            <a:avLst/>
          </a:prstGeom>
          <a:noFill/>
        </p:spPr>
        <p:txBody>
          <a:bodyPr wrap="square" lIns="27432" tIns="27432" rIns="27432" bIns="27432" anchor="t">
            <a:spAutoFit/>
          </a:bodyPr>
          <a:lstStyle/>
          <a:p>
            <a:pPr algn="ctr"/>
            <a:r>
              <a:rPr b="1" dirty="0">
                <a:solidFill>
                  <a:srgbClr val="F7F8FB"/>
                </a:solidFill>
                <a:latin typeface="Aptos"/>
              </a:rPr>
              <a:t>1</a:t>
            </a:r>
          </a:p>
        </p:txBody>
      </p:sp>
      <p:sp>
        <p:nvSpPr>
          <p:cNvPr id="15" name="TextBox 14"/>
          <p:cNvSpPr txBox="1"/>
          <p:nvPr/>
        </p:nvSpPr>
        <p:spPr>
          <a:xfrm>
            <a:off x="6172200" y="2318248"/>
            <a:ext cx="4800600" cy="363176"/>
          </a:xfrm>
          <a:prstGeom prst="rect">
            <a:avLst/>
          </a:prstGeom>
          <a:noFill/>
        </p:spPr>
        <p:txBody>
          <a:bodyPr wrap="square" lIns="27432" tIns="27432" rIns="27432" bIns="27432" anchor="t">
            <a:spAutoFit/>
          </a:bodyPr>
          <a:lstStyle/>
          <a:p>
            <a:r>
              <a:rPr sz="2000" b="0" dirty="0">
                <a:solidFill>
                  <a:srgbClr val="F7F8FB"/>
                </a:solidFill>
                <a:latin typeface="Aptos"/>
              </a:rPr>
              <a:t>Load the CSV into a Pandas </a:t>
            </a:r>
            <a:r>
              <a:rPr sz="2000" b="0" dirty="0" err="1">
                <a:solidFill>
                  <a:srgbClr val="F7F8FB"/>
                </a:solidFill>
                <a:latin typeface="Aptos"/>
              </a:rPr>
              <a:t>DataFrame</a:t>
            </a:r>
            <a:endParaRPr sz="2000" b="0" dirty="0">
              <a:solidFill>
                <a:srgbClr val="F7F8FB"/>
              </a:solidFill>
              <a:latin typeface="Aptos"/>
            </a:endParaRPr>
          </a:p>
        </p:txBody>
      </p:sp>
      <p:sp>
        <p:nvSpPr>
          <p:cNvPr id="16" name="Rounded Rectangle 15"/>
          <p:cNvSpPr/>
          <p:nvPr/>
        </p:nvSpPr>
        <p:spPr>
          <a:xfrm>
            <a:off x="5650992" y="2977992"/>
            <a:ext cx="329184" cy="329184"/>
          </a:xfrm>
          <a:prstGeom prst="roundRect">
            <a:avLst>
              <a:gd name="adj" fmla="val 12000"/>
            </a:avLst>
          </a:prstGeom>
          <a:solidFill>
            <a:srgbClr val="DE1848"/>
          </a:solidFill>
          <a:ln>
            <a:solidFill>
              <a:srgbClr val="DE184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650992" y="2992155"/>
            <a:ext cx="329184" cy="332399"/>
          </a:xfrm>
          <a:prstGeom prst="rect">
            <a:avLst/>
          </a:prstGeom>
          <a:noFill/>
        </p:spPr>
        <p:txBody>
          <a:bodyPr wrap="square" lIns="27432" tIns="27432" rIns="27432" bIns="27432" anchor="t">
            <a:spAutoFit/>
          </a:bodyPr>
          <a:lstStyle/>
          <a:p>
            <a:pPr algn="ctr"/>
            <a:r>
              <a:rPr b="1" dirty="0">
                <a:solidFill>
                  <a:srgbClr val="F7F8FB"/>
                </a:solidFill>
                <a:latin typeface="Aptos"/>
              </a:rPr>
              <a:t>2</a:t>
            </a:r>
          </a:p>
        </p:txBody>
      </p:sp>
      <p:sp>
        <p:nvSpPr>
          <p:cNvPr id="18" name="TextBox 17"/>
          <p:cNvSpPr txBox="1"/>
          <p:nvPr/>
        </p:nvSpPr>
        <p:spPr>
          <a:xfrm>
            <a:off x="6172200" y="2871216"/>
            <a:ext cx="4800600" cy="670953"/>
          </a:xfrm>
          <a:prstGeom prst="rect">
            <a:avLst/>
          </a:prstGeom>
          <a:noFill/>
        </p:spPr>
        <p:txBody>
          <a:bodyPr wrap="square" lIns="27432" tIns="27432" rIns="27432" bIns="27432" anchor="t">
            <a:spAutoFit/>
          </a:bodyPr>
          <a:lstStyle/>
          <a:p>
            <a:r>
              <a:rPr sz="2000" b="0" dirty="0">
                <a:solidFill>
                  <a:srgbClr val="F7F8FB"/>
                </a:solidFill>
                <a:latin typeface="Aptos"/>
              </a:rPr>
              <a:t>Inspect shape, types, missing values and duplicates</a:t>
            </a:r>
          </a:p>
        </p:txBody>
      </p:sp>
      <p:sp>
        <p:nvSpPr>
          <p:cNvPr id="19" name="Rounded Rectangle 18"/>
          <p:cNvSpPr/>
          <p:nvPr/>
        </p:nvSpPr>
        <p:spPr>
          <a:xfrm>
            <a:off x="5650992" y="3786599"/>
            <a:ext cx="329184" cy="329184"/>
          </a:xfrm>
          <a:prstGeom prst="roundRect">
            <a:avLst>
              <a:gd name="adj" fmla="val 12000"/>
            </a:avLst>
          </a:prstGeom>
          <a:solidFill>
            <a:srgbClr val="DE1848"/>
          </a:solidFill>
          <a:ln>
            <a:solidFill>
              <a:srgbClr val="DE184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650992" y="3810592"/>
            <a:ext cx="329184" cy="332399"/>
          </a:xfrm>
          <a:prstGeom prst="rect">
            <a:avLst/>
          </a:prstGeom>
          <a:noFill/>
        </p:spPr>
        <p:txBody>
          <a:bodyPr wrap="square" lIns="27432" tIns="27432" rIns="27432" bIns="27432" anchor="t">
            <a:spAutoFit/>
          </a:bodyPr>
          <a:lstStyle/>
          <a:p>
            <a:pPr algn="ctr"/>
            <a:r>
              <a:rPr b="1" dirty="0">
                <a:solidFill>
                  <a:srgbClr val="F7F8FB"/>
                </a:solidFill>
                <a:latin typeface="Aptos"/>
              </a:rPr>
              <a:t>3</a:t>
            </a:r>
          </a:p>
        </p:txBody>
      </p:sp>
      <p:sp>
        <p:nvSpPr>
          <p:cNvPr id="21" name="TextBox 20"/>
          <p:cNvSpPr txBox="1"/>
          <p:nvPr/>
        </p:nvSpPr>
        <p:spPr>
          <a:xfrm>
            <a:off x="6172200" y="3689651"/>
            <a:ext cx="4800600" cy="670953"/>
          </a:xfrm>
          <a:prstGeom prst="rect">
            <a:avLst/>
          </a:prstGeom>
          <a:noFill/>
        </p:spPr>
        <p:txBody>
          <a:bodyPr wrap="square" lIns="27432" tIns="27432" rIns="27432" bIns="27432" anchor="t">
            <a:spAutoFit/>
          </a:bodyPr>
          <a:lstStyle/>
          <a:p>
            <a:r>
              <a:rPr sz="2000" b="0" dirty="0">
                <a:solidFill>
                  <a:srgbClr val="F7F8FB"/>
                </a:solidFill>
                <a:latin typeface="Aptos"/>
              </a:rPr>
              <a:t>Review descriptive and categorical summaries</a:t>
            </a:r>
          </a:p>
        </p:txBody>
      </p:sp>
      <p:sp>
        <p:nvSpPr>
          <p:cNvPr id="22" name="Rounded Rectangle 21"/>
          <p:cNvSpPr/>
          <p:nvPr/>
        </p:nvSpPr>
        <p:spPr>
          <a:xfrm>
            <a:off x="5650992" y="4428054"/>
            <a:ext cx="329184" cy="329184"/>
          </a:xfrm>
          <a:prstGeom prst="roundRect">
            <a:avLst>
              <a:gd name="adj" fmla="val 12000"/>
            </a:avLst>
          </a:prstGeom>
          <a:solidFill>
            <a:srgbClr val="DE1848"/>
          </a:solidFill>
          <a:ln>
            <a:solidFill>
              <a:srgbClr val="DE184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650992" y="4452048"/>
            <a:ext cx="329184" cy="332399"/>
          </a:xfrm>
          <a:prstGeom prst="rect">
            <a:avLst/>
          </a:prstGeom>
          <a:noFill/>
        </p:spPr>
        <p:txBody>
          <a:bodyPr wrap="square" lIns="27432" tIns="27432" rIns="27432" bIns="27432" anchor="t">
            <a:spAutoFit/>
          </a:bodyPr>
          <a:lstStyle/>
          <a:p>
            <a:pPr algn="ctr"/>
            <a:r>
              <a:rPr b="1" dirty="0">
                <a:solidFill>
                  <a:srgbClr val="F7F8FB"/>
                </a:solidFill>
                <a:latin typeface="Aptos"/>
              </a:rPr>
              <a:t>4</a:t>
            </a:r>
          </a:p>
        </p:txBody>
      </p:sp>
      <p:sp>
        <p:nvSpPr>
          <p:cNvPr id="24" name="TextBox 23"/>
          <p:cNvSpPr txBox="1"/>
          <p:nvPr/>
        </p:nvSpPr>
        <p:spPr>
          <a:xfrm>
            <a:off x="6172200" y="4350768"/>
            <a:ext cx="4800600" cy="670953"/>
          </a:xfrm>
          <a:prstGeom prst="rect">
            <a:avLst/>
          </a:prstGeom>
          <a:noFill/>
        </p:spPr>
        <p:txBody>
          <a:bodyPr wrap="square" lIns="27432" tIns="27432" rIns="27432" bIns="27432" anchor="t">
            <a:spAutoFit/>
          </a:bodyPr>
          <a:lstStyle/>
          <a:p>
            <a:r>
              <a:rPr sz="2000" b="0" dirty="0">
                <a:solidFill>
                  <a:srgbClr val="F7F8FB"/>
                </a:solidFill>
                <a:latin typeface="Aptos"/>
              </a:rPr>
              <a:t>Create histograms, count plots, box plots and scatter plot</a:t>
            </a:r>
          </a:p>
        </p:txBody>
      </p:sp>
      <p:sp>
        <p:nvSpPr>
          <p:cNvPr id="25" name="Rounded Rectangle 24"/>
          <p:cNvSpPr/>
          <p:nvPr/>
        </p:nvSpPr>
        <p:spPr>
          <a:xfrm>
            <a:off x="5650992" y="5344817"/>
            <a:ext cx="329184" cy="329184"/>
          </a:xfrm>
          <a:prstGeom prst="roundRect">
            <a:avLst>
              <a:gd name="adj" fmla="val 12000"/>
            </a:avLst>
          </a:prstGeom>
          <a:solidFill>
            <a:srgbClr val="DE1848"/>
          </a:solidFill>
          <a:ln>
            <a:solidFill>
              <a:srgbClr val="DE184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665955" y="5358982"/>
            <a:ext cx="299258" cy="332399"/>
          </a:xfrm>
          <a:prstGeom prst="rect">
            <a:avLst/>
          </a:prstGeom>
          <a:noFill/>
        </p:spPr>
        <p:txBody>
          <a:bodyPr wrap="square" lIns="27432" tIns="27432" rIns="27432" bIns="27432" anchor="t">
            <a:spAutoFit/>
          </a:bodyPr>
          <a:lstStyle/>
          <a:p>
            <a:pPr algn="ctr"/>
            <a:r>
              <a:rPr b="1" dirty="0">
                <a:solidFill>
                  <a:srgbClr val="F7F8FB"/>
                </a:solidFill>
                <a:latin typeface="Aptos"/>
              </a:rPr>
              <a:t>5</a:t>
            </a:r>
          </a:p>
        </p:txBody>
      </p:sp>
      <p:sp>
        <p:nvSpPr>
          <p:cNvPr id="27" name="TextBox 26"/>
          <p:cNvSpPr txBox="1"/>
          <p:nvPr/>
        </p:nvSpPr>
        <p:spPr>
          <a:xfrm>
            <a:off x="6172200" y="5188876"/>
            <a:ext cx="4800600" cy="670953"/>
          </a:xfrm>
          <a:prstGeom prst="rect">
            <a:avLst/>
          </a:prstGeom>
          <a:noFill/>
        </p:spPr>
        <p:txBody>
          <a:bodyPr wrap="square" lIns="27432" tIns="27432" rIns="27432" bIns="27432" anchor="t">
            <a:spAutoFit/>
          </a:bodyPr>
          <a:lstStyle/>
          <a:p>
            <a:r>
              <a:rPr sz="2000" b="0" dirty="0">
                <a:solidFill>
                  <a:srgbClr val="F7F8FB"/>
                </a:solidFill>
                <a:latin typeface="Aptos"/>
              </a:rPr>
              <a:t>Apply IQR-based CIBIL outlier checks and correlation heatmap</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81F31"/>
        </a:solidFill>
        <a:effectLst/>
      </p:bgPr>
    </p:bg>
    <p:spTree>
      <p:nvGrpSpPr>
        <p:cNvPr id="1" name=""/>
        <p:cNvGrpSpPr/>
        <p:nvPr/>
      </p:nvGrpSpPr>
      <p:grpSpPr>
        <a:xfrm>
          <a:off x="0" y="0"/>
          <a:ext cx="0" cy="0"/>
          <a:chOff x="0" y="0"/>
          <a:chExt cx="0" cy="0"/>
        </a:xfrm>
      </p:grpSpPr>
      <p:sp>
        <p:nvSpPr>
          <p:cNvPr id="2" name="TextBox 1"/>
          <p:cNvSpPr txBox="1"/>
          <p:nvPr/>
        </p:nvSpPr>
        <p:spPr>
          <a:xfrm>
            <a:off x="713232" y="438912"/>
            <a:ext cx="10698480" cy="502920"/>
          </a:xfrm>
          <a:prstGeom prst="rect">
            <a:avLst/>
          </a:prstGeom>
          <a:noFill/>
        </p:spPr>
        <p:txBody>
          <a:bodyPr wrap="square" lIns="27432" tIns="27432" rIns="27432" bIns="27432" anchor="t">
            <a:spAutoFit/>
          </a:bodyPr>
          <a:lstStyle/>
          <a:p>
            <a:r>
              <a:rPr sz="2800" b="1">
                <a:solidFill>
                  <a:srgbClr val="F7F8FB"/>
                </a:solidFill>
                <a:latin typeface="Aptos"/>
              </a:rPr>
              <a:t>Project Visualizations</a:t>
            </a:r>
          </a:p>
        </p:txBody>
      </p:sp>
      <p:sp>
        <p:nvSpPr>
          <p:cNvPr id="3" name="Rectangle 2"/>
          <p:cNvSpPr/>
          <p:nvPr/>
        </p:nvSpPr>
        <p:spPr>
          <a:xfrm>
            <a:off x="713232" y="1051560"/>
            <a:ext cx="1005840" cy="64008"/>
          </a:xfrm>
          <a:prstGeom prst="rect">
            <a:avLst/>
          </a:prstGeom>
          <a:solidFill>
            <a:srgbClr val="DE1848"/>
          </a:solidFill>
          <a:ln>
            <a:solidFill>
              <a:srgbClr val="DE184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6510528"/>
            <a:ext cx="4572000" cy="164592"/>
          </a:xfrm>
          <a:prstGeom prst="rect">
            <a:avLst/>
          </a:prstGeom>
          <a:noFill/>
        </p:spPr>
        <p:txBody>
          <a:bodyPr wrap="square" lIns="27432" tIns="27432" rIns="27432" bIns="27432" anchor="t">
            <a:spAutoFit/>
          </a:bodyPr>
          <a:lstStyle/>
          <a:p>
            <a:r>
              <a:rPr sz="850" b="1">
                <a:solidFill>
                  <a:srgbClr val="B9C0CF"/>
                </a:solidFill>
                <a:latin typeface="Aptos"/>
              </a:rPr>
              <a:t>LOAN APPROVAL ANALYSIS  •  05</a:t>
            </a:r>
          </a:p>
        </p:txBody>
      </p:sp>
      <p:sp>
        <p:nvSpPr>
          <p:cNvPr id="7" name="Rounded Rectangle 6"/>
          <p:cNvSpPr/>
          <p:nvPr/>
        </p:nvSpPr>
        <p:spPr>
          <a:xfrm>
            <a:off x="713231" y="1289304"/>
            <a:ext cx="10918329" cy="4983480"/>
          </a:xfrm>
          <a:prstGeom prst="roundRect">
            <a:avLst>
              <a:gd name="adj" fmla="val 12000"/>
            </a:avLst>
          </a:prstGeom>
          <a:solidFill>
            <a:srgbClr val="273045"/>
          </a:solidFill>
          <a:ln>
            <a:solidFill>
              <a:srgbClr val="DE184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a:extLst>
              <a:ext uri="{FF2B5EF4-FFF2-40B4-BE49-F238E27FC236}">
                <a16:creationId xmlns:a16="http://schemas.microsoft.com/office/drawing/2014/main" id="{F11E2039-A550-BD23-B3CD-677D885FD3B0}"/>
              </a:ext>
            </a:extLst>
          </p:cNvPr>
          <p:cNvPicPr>
            <a:picLocks noChangeAspect="1"/>
          </p:cNvPicPr>
          <p:nvPr/>
        </p:nvPicPr>
        <p:blipFill>
          <a:blip r:embed="rId2"/>
          <a:stretch>
            <a:fillRect/>
          </a:stretch>
        </p:blipFill>
        <p:spPr>
          <a:xfrm>
            <a:off x="731521" y="1289304"/>
            <a:ext cx="5541460" cy="2436716"/>
          </a:xfrm>
          <a:prstGeom prst="rect">
            <a:avLst/>
          </a:prstGeom>
        </p:spPr>
      </p:pic>
      <p:pic>
        <p:nvPicPr>
          <p:cNvPr id="13" name="Picture 12">
            <a:extLst>
              <a:ext uri="{FF2B5EF4-FFF2-40B4-BE49-F238E27FC236}">
                <a16:creationId xmlns:a16="http://schemas.microsoft.com/office/drawing/2014/main" id="{810EC952-DAF8-026F-802B-9C8E92DAA35E}"/>
              </a:ext>
            </a:extLst>
          </p:cNvPr>
          <p:cNvPicPr>
            <a:picLocks noChangeAspect="1"/>
          </p:cNvPicPr>
          <p:nvPr/>
        </p:nvPicPr>
        <p:blipFill>
          <a:blip r:embed="rId3"/>
          <a:stretch>
            <a:fillRect/>
          </a:stretch>
        </p:blipFill>
        <p:spPr>
          <a:xfrm>
            <a:off x="8145107" y="3726020"/>
            <a:ext cx="3523031" cy="2546764"/>
          </a:xfrm>
          <a:prstGeom prst="rect">
            <a:avLst/>
          </a:prstGeom>
        </p:spPr>
      </p:pic>
      <p:pic>
        <p:nvPicPr>
          <p:cNvPr id="15" name="Picture 14">
            <a:extLst>
              <a:ext uri="{FF2B5EF4-FFF2-40B4-BE49-F238E27FC236}">
                <a16:creationId xmlns:a16="http://schemas.microsoft.com/office/drawing/2014/main" id="{06903903-A893-BD73-D8E3-E43241524B88}"/>
              </a:ext>
            </a:extLst>
          </p:cNvPr>
          <p:cNvPicPr>
            <a:picLocks noChangeAspect="1"/>
          </p:cNvPicPr>
          <p:nvPr/>
        </p:nvPicPr>
        <p:blipFill>
          <a:blip r:embed="rId4"/>
          <a:stretch>
            <a:fillRect/>
          </a:stretch>
        </p:blipFill>
        <p:spPr>
          <a:xfrm>
            <a:off x="731520" y="3726020"/>
            <a:ext cx="3606386" cy="2546764"/>
          </a:xfrm>
          <a:prstGeom prst="rect">
            <a:avLst/>
          </a:prstGeom>
        </p:spPr>
      </p:pic>
      <p:pic>
        <p:nvPicPr>
          <p:cNvPr id="17" name="Picture 16">
            <a:extLst>
              <a:ext uri="{FF2B5EF4-FFF2-40B4-BE49-F238E27FC236}">
                <a16:creationId xmlns:a16="http://schemas.microsoft.com/office/drawing/2014/main" id="{689DDC6A-6EE8-7112-1AA3-415AC06E2FE3}"/>
              </a:ext>
            </a:extLst>
          </p:cNvPr>
          <p:cNvPicPr>
            <a:picLocks noChangeAspect="1"/>
          </p:cNvPicPr>
          <p:nvPr/>
        </p:nvPicPr>
        <p:blipFill>
          <a:blip r:embed="rId5"/>
          <a:stretch>
            <a:fillRect/>
          </a:stretch>
        </p:blipFill>
        <p:spPr>
          <a:xfrm>
            <a:off x="4337906" y="3726020"/>
            <a:ext cx="3787399" cy="2546764"/>
          </a:xfrm>
          <a:prstGeom prst="rect">
            <a:avLst/>
          </a:prstGeom>
        </p:spPr>
      </p:pic>
      <p:pic>
        <p:nvPicPr>
          <p:cNvPr id="19" name="Picture 18">
            <a:extLst>
              <a:ext uri="{FF2B5EF4-FFF2-40B4-BE49-F238E27FC236}">
                <a16:creationId xmlns:a16="http://schemas.microsoft.com/office/drawing/2014/main" id="{030118C9-2A1D-3FD7-D9E6-69EDE9C72103}"/>
              </a:ext>
            </a:extLst>
          </p:cNvPr>
          <p:cNvPicPr>
            <a:picLocks noChangeAspect="1"/>
          </p:cNvPicPr>
          <p:nvPr/>
        </p:nvPicPr>
        <p:blipFill>
          <a:blip r:embed="rId6"/>
          <a:stretch>
            <a:fillRect/>
          </a:stretch>
        </p:blipFill>
        <p:spPr>
          <a:xfrm>
            <a:off x="6291270" y="1289304"/>
            <a:ext cx="5358579" cy="243671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81F31"/>
        </a:solidFill>
        <a:effectLst/>
      </p:bgPr>
    </p:bg>
    <p:spTree>
      <p:nvGrpSpPr>
        <p:cNvPr id="1" name=""/>
        <p:cNvGrpSpPr/>
        <p:nvPr/>
      </p:nvGrpSpPr>
      <p:grpSpPr>
        <a:xfrm>
          <a:off x="0" y="0"/>
          <a:ext cx="0" cy="0"/>
          <a:chOff x="0" y="0"/>
          <a:chExt cx="0" cy="0"/>
        </a:xfrm>
      </p:grpSpPr>
      <p:sp>
        <p:nvSpPr>
          <p:cNvPr id="2" name="TextBox 1"/>
          <p:cNvSpPr txBox="1"/>
          <p:nvPr/>
        </p:nvSpPr>
        <p:spPr>
          <a:xfrm>
            <a:off x="713232" y="438912"/>
            <a:ext cx="10698480" cy="502920"/>
          </a:xfrm>
          <a:prstGeom prst="rect">
            <a:avLst/>
          </a:prstGeom>
          <a:noFill/>
        </p:spPr>
        <p:txBody>
          <a:bodyPr wrap="square" lIns="27432" tIns="27432" rIns="27432" bIns="27432" anchor="t">
            <a:spAutoFit/>
          </a:bodyPr>
          <a:lstStyle/>
          <a:p>
            <a:r>
              <a:rPr sz="2800" b="1">
                <a:solidFill>
                  <a:srgbClr val="F7F8FB"/>
                </a:solidFill>
                <a:latin typeface="Aptos"/>
              </a:rPr>
              <a:t>Conclusion</a:t>
            </a:r>
          </a:p>
        </p:txBody>
      </p:sp>
      <p:sp>
        <p:nvSpPr>
          <p:cNvPr id="3" name="Rectangle 2"/>
          <p:cNvSpPr/>
          <p:nvPr/>
        </p:nvSpPr>
        <p:spPr>
          <a:xfrm>
            <a:off x="713232" y="1051560"/>
            <a:ext cx="1005840" cy="64008"/>
          </a:xfrm>
          <a:prstGeom prst="rect">
            <a:avLst/>
          </a:prstGeom>
          <a:solidFill>
            <a:srgbClr val="DE1848"/>
          </a:solidFill>
          <a:ln>
            <a:solidFill>
              <a:srgbClr val="DE184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77624" y="1298448"/>
            <a:ext cx="10698480" cy="393954"/>
          </a:xfrm>
          <a:prstGeom prst="rect">
            <a:avLst/>
          </a:prstGeom>
          <a:noFill/>
        </p:spPr>
        <p:txBody>
          <a:bodyPr wrap="square" lIns="27432" tIns="27432" rIns="27432" bIns="27432" anchor="t">
            <a:spAutoFit/>
          </a:bodyPr>
          <a:lstStyle/>
          <a:p>
            <a:r>
              <a:rPr sz="2200" b="0" dirty="0">
                <a:solidFill>
                  <a:srgbClr val="B9C0CF"/>
                </a:solidFill>
                <a:latin typeface="Aptos"/>
              </a:rPr>
              <a:t>Summary of the analysis and Python skills demonstrated.</a:t>
            </a:r>
          </a:p>
        </p:txBody>
      </p:sp>
      <p:sp>
        <p:nvSpPr>
          <p:cNvPr id="5" name="TextBox 4"/>
          <p:cNvSpPr txBox="1"/>
          <p:nvPr/>
        </p:nvSpPr>
        <p:spPr>
          <a:xfrm>
            <a:off x="731520" y="6510528"/>
            <a:ext cx="4572000" cy="164592"/>
          </a:xfrm>
          <a:prstGeom prst="rect">
            <a:avLst/>
          </a:prstGeom>
          <a:noFill/>
        </p:spPr>
        <p:txBody>
          <a:bodyPr wrap="square" lIns="27432" tIns="27432" rIns="27432" bIns="27432" anchor="t">
            <a:spAutoFit/>
          </a:bodyPr>
          <a:lstStyle/>
          <a:p>
            <a:r>
              <a:rPr sz="850" b="1">
                <a:solidFill>
                  <a:srgbClr val="B9C0CF"/>
                </a:solidFill>
                <a:latin typeface="Aptos"/>
              </a:rPr>
              <a:t>LOAN APPROVAL ANALYSIS  •  06</a:t>
            </a:r>
          </a:p>
        </p:txBody>
      </p:sp>
      <p:sp>
        <p:nvSpPr>
          <p:cNvPr id="6" name="TextBox 5"/>
          <p:cNvSpPr txBox="1"/>
          <p:nvPr/>
        </p:nvSpPr>
        <p:spPr>
          <a:xfrm>
            <a:off x="896112" y="1828800"/>
            <a:ext cx="10241280" cy="1163395"/>
          </a:xfrm>
          <a:prstGeom prst="rect">
            <a:avLst/>
          </a:prstGeom>
          <a:noFill/>
        </p:spPr>
        <p:txBody>
          <a:bodyPr wrap="square" lIns="27432" tIns="27432" rIns="27432" bIns="27432" anchor="t">
            <a:spAutoFit/>
          </a:bodyPr>
          <a:lstStyle/>
          <a:p>
            <a:r>
              <a:rPr sz="2400" b="1" dirty="0">
                <a:solidFill>
                  <a:srgbClr val="F7F8FB"/>
                </a:solidFill>
                <a:latin typeface="Aptos"/>
              </a:rPr>
              <a:t>This project demonstrates an exploratory data analysis workflow for loan application data, from data-quality checks and descriptive summaries to visual comparisons and correlation analysis.</a:t>
            </a:r>
          </a:p>
        </p:txBody>
      </p:sp>
      <p:sp>
        <p:nvSpPr>
          <p:cNvPr id="7" name="TextBox 6"/>
          <p:cNvSpPr txBox="1"/>
          <p:nvPr/>
        </p:nvSpPr>
        <p:spPr>
          <a:xfrm>
            <a:off x="896112" y="3108960"/>
            <a:ext cx="3840480" cy="363176"/>
          </a:xfrm>
          <a:prstGeom prst="rect">
            <a:avLst/>
          </a:prstGeom>
          <a:noFill/>
        </p:spPr>
        <p:txBody>
          <a:bodyPr wrap="square" lIns="27432" tIns="27432" rIns="27432" bIns="27432" anchor="t">
            <a:spAutoFit/>
          </a:bodyPr>
          <a:lstStyle/>
          <a:p>
            <a:r>
              <a:rPr sz="2000" b="1" dirty="0">
                <a:solidFill>
                  <a:srgbClr val="DE1848"/>
                </a:solidFill>
                <a:latin typeface="Aptos"/>
              </a:rPr>
              <a:t>KEY LEARNING AREAS</a:t>
            </a:r>
          </a:p>
        </p:txBody>
      </p:sp>
      <p:sp>
        <p:nvSpPr>
          <p:cNvPr id="8" name="TextBox 7"/>
          <p:cNvSpPr txBox="1"/>
          <p:nvPr/>
        </p:nvSpPr>
        <p:spPr>
          <a:xfrm>
            <a:off x="914400" y="3611880"/>
            <a:ext cx="8686800" cy="363176"/>
          </a:xfrm>
          <a:prstGeom prst="rect">
            <a:avLst/>
          </a:prstGeom>
          <a:noFill/>
        </p:spPr>
        <p:txBody>
          <a:bodyPr wrap="square" lIns="27432" tIns="27432" rIns="27432" bIns="27432" anchor="t">
            <a:spAutoFit/>
          </a:bodyPr>
          <a:lstStyle/>
          <a:p>
            <a:r>
              <a:rPr sz="2000" b="0" dirty="0">
                <a:solidFill>
                  <a:srgbClr val="F7F8FB"/>
                </a:solidFill>
                <a:latin typeface="Aptos"/>
              </a:rPr>
              <a:t>• Loading and inspecting CSV data with Pandas</a:t>
            </a:r>
          </a:p>
        </p:txBody>
      </p:sp>
      <p:sp>
        <p:nvSpPr>
          <p:cNvPr id="9" name="TextBox 8"/>
          <p:cNvSpPr txBox="1"/>
          <p:nvPr/>
        </p:nvSpPr>
        <p:spPr>
          <a:xfrm>
            <a:off x="914400" y="4087368"/>
            <a:ext cx="8686800" cy="363176"/>
          </a:xfrm>
          <a:prstGeom prst="rect">
            <a:avLst/>
          </a:prstGeom>
          <a:noFill/>
        </p:spPr>
        <p:txBody>
          <a:bodyPr wrap="square" lIns="27432" tIns="27432" rIns="27432" bIns="27432" anchor="t">
            <a:spAutoFit/>
          </a:bodyPr>
          <a:lstStyle/>
          <a:p>
            <a:r>
              <a:rPr sz="2000" b="0" dirty="0">
                <a:solidFill>
                  <a:srgbClr val="F7F8FB"/>
                </a:solidFill>
                <a:latin typeface="Aptos"/>
              </a:rPr>
              <a:t>• Summarizing numeric and categorical columns</a:t>
            </a:r>
          </a:p>
        </p:txBody>
      </p:sp>
      <p:sp>
        <p:nvSpPr>
          <p:cNvPr id="10" name="TextBox 9"/>
          <p:cNvSpPr txBox="1"/>
          <p:nvPr/>
        </p:nvSpPr>
        <p:spPr>
          <a:xfrm>
            <a:off x="914400" y="4562856"/>
            <a:ext cx="8686800" cy="363176"/>
          </a:xfrm>
          <a:prstGeom prst="rect">
            <a:avLst/>
          </a:prstGeom>
          <a:noFill/>
        </p:spPr>
        <p:txBody>
          <a:bodyPr wrap="square" lIns="27432" tIns="27432" rIns="27432" bIns="27432" anchor="t">
            <a:spAutoFit/>
          </a:bodyPr>
          <a:lstStyle/>
          <a:p>
            <a:r>
              <a:rPr sz="2000" b="0" dirty="0">
                <a:solidFill>
                  <a:srgbClr val="F7F8FB"/>
                </a:solidFill>
                <a:latin typeface="Aptos"/>
              </a:rPr>
              <a:t>• Visualizing patterns with Matplotlib and Seaborn</a:t>
            </a:r>
          </a:p>
        </p:txBody>
      </p:sp>
      <p:sp>
        <p:nvSpPr>
          <p:cNvPr id="11" name="TextBox 10"/>
          <p:cNvSpPr txBox="1"/>
          <p:nvPr/>
        </p:nvSpPr>
        <p:spPr>
          <a:xfrm>
            <a:off x="914400" y="5038344"/>
            <a:ext cx="8686800" cy="363176"/>
          </a:xfrm>
          <a:prstGeom prst="rect">
            <a:avLst/>
          </a:prstGeom>
          <a:noFill/>
        </p:spPr>
        <p:txBody>
          <a:bodyPr wrap="square" lIns="27432" tIns="27432" rIns="27432" bIns="27432" anchor="t">
            <a:spAutoFit/>
          </a:bodyPr>
          <a:lstStyle/>
          <a:p>
            <a:r>
              <a:rPr sz="2000" b="0" dirty="0">
                <a:solidFill>
                  <a:srgbClr val="F7F8FB"/>
                </a:solidFill>
                <a:latin typeface="Aptos"/>
              </a:rPr>
              <a:t>• Investigating potential CIBIL-score outliers with IQR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39</TotalTime>
  <Words>421</Words>
  <Application>Microsoft Office PowerPoint</Application>
  <PresentationFormat>Widescreen</PresentationFormat>
  <Paragraphs>64</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HP</dc:creator>
  <cp:keywords/>
  <dc:description>generated using python-pptx</dc:description>
  <cp:lastModifiedBy>Dattatray Jadhav</cp:lastModifiedBy>
  <cp:revision>2</cp:revision>
  <dcterms:created xsi:type="dcterms:W3CDTF">2013-01-27T09:14:16Z</dcterms:created>
  <dcterms:modified xsi:type="dcterms:W3CDTF">2026-10-17T10:25:42Z</dcterms:modified>
  <cp:category/>
</cp:coreProperties>
</file>